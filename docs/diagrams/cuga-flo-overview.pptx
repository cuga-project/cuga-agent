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>
                <a:solidFill>
                  <a:srgbClr val="3B7DD8"/>
                </a:solidFill>
                <a:latin typeface="Calibri"/>
              </a:rPr>
              <a:t>CUGA FLO · OVERVIEW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58368"/>
            <a:ext cx="109728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800" b="1">
                <a:solidFill>
                  <a:srgbClr val="1A2332"/>
                </a:solidFill>
                <a:latin typeface="Calibri"/>
              </a:rPr>
              <a:t>A process harness for agentic workflows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11064240" cy="9525"/>
          </a:xfrm>
          <a:prstGeom prst="rect">
            <a:avLst/>
          </a:prstGeom>
          <a:solidFill>
            <a:srgbClr val="D8DE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1481328"/>
            <a:ext cx="110642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667085"/>
                </a:solidFill>
                <a:latin typeface="Calibri"/>
              </a:rPr>
              <a:t>CUGA FLO separates deterministic process execution from agentic reasoning. The BPMN structure is enforced by a workflow engine; LLM reasoning is scoped to designated control points, and every permitted deviation is governed by policy and recorded.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2286000"/>
            <a:ext cx="11064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667085"/>
                </a:solidFill>
                <a:latin typeface="Calibri"/>
              </a:rPr>
              <a:t>THE TRADE-OFF IT REFUSES TO MAKE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2596896"/>
            <a:ext cx="5394960" cy="10058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5875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1A2332"/>
                </a:solidFill>
                <a:latin typeface="Calibri"/>
              </a:rPr>
              <a:t>Classical BPM</a:t>
            </a:r>
          </a:p>
          <a:p>
            <a:pPr algn="ctr"/>
            <a:r>
              <a:rPr sz="1000">
                <a:solidFill>
                  <a:srgbClr val="667085"/>
                </a:solidFill>
                <a:latin typeface="Calibri"/>
              </a:rPr>
              <a:t>structural conformance — but rigid at runtime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36208" y="2596896"/>
            <a:ext cx="5394960" cy="10058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5875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1A2332"/>
                </a:solidFill>
                <a:latin typeface="Calibri"/>
              </a:rPr>
              <a:t>LLM-as-planner</a:t>
            </a:r>
          </a:p>
          <a:p>
            <a:pPr algn="ctr"/>
            <a:r>
              <a:rPr sz="1000">
                <a:solidFill>
                  <a:srgbClr val="667085"/>
                </a:solidFill>
                <a:latin typeface="Calibri"/>
              </a:rPr>
              <a:t>adaptive — but no conformance guarantees</a:t>
            </a:r>
          </a:p>
        </p:txBody>
      </p:sp>
      <p:sp>
        <p:nvSpPr>
          <p:cNvPr id="9" name="Down Arrow 8"/>
          <p:cNvSpPr/>
          <p:nvPr/>
        </p:nvSpPr>
        <p:spPr>
          <a:xfrm>
            <a:off x="5916168" y="3749039"/>
            <a:ext cx="365760" cy="365760"/>
          </a:xfrm>
          <a:prstGeom prst="downArrow">
            <a:avLst/>
          </a:prstGeom>
          <a:solidFill>
            <a:srgbClr val="6670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66928" y="4261104"/>
            <a:ext cx="11064240" cy="1051560"/>
          </a:xfrm>
          <a:prstGeom prst="roundRect">
            <a:avLst>
              <a:gd name="adj" fmla="val 5000"/>
            </a:avLst>
          </a:prstGeom>
          <a:solidFill>
            <a:srgbClr val="E6F2FF"/>
          </a:solidFill>
          <a:ln w="15875">
            <a:solidFill>
              <a:srgbClr val="3B7D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600" b="1">
                <a:solidFill>
                  <a:srgbClr val="1A2332"/>
                </a:solidFill>
                <a:latin typeface="Calibri"/>
              </a:rPr>
              <a:t>CUGA FLO</a:t>
            </a:r>
          </a:p>
          <a:p>
            <a:pPr algn="ctr"/>
            <a:r>
              <a:rPr sz="1000">
                <a:solidFill>
                  <a:srgbClr val="667085"/>
                </a:solidFill>
                <a:latin typeface="Calibri"/>
              </a:rPr>
              <a:t>structure enforced  ·  adaptation policy-bounded  ·  every deviation recorded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5614416"/>
            <a:ext cx="11064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667085"/>
                </a:solidFill>
                <a:latin typeface="Calibri"/>
              </a:rPr>
              <a:t>WHERE IT FITS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5925312"/>
            <a:ext cx="1106424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1A2332"/>
                </a:solidFill>
                <a:latin typeface="Calibri"/>
              </a:rPr>
              <a:t>Regulated, repeatable, auditable processes — loan approvals, compliance workflows, onboarding pipelines — where the sequence of steps must hold, but each step and each permitted intervention is still decided by policy rather than hard-coded.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>
                <a:solidFill>
                  <a:srgbClr val="3B7DD8"/>
                </a:solidFill>
                <a:latin typeface="Calibri"/>
              </a:rPr>
              <a:t>CUGA FLO · 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58368"/>
            <a:ext cx="109728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800" b="1">
                <a:solidFill>
                  <a:srgbClr val="1A2332"/>
                </a:solidFill>
                <a:latin typeface="Calibri"/>
              </a:rPr>
              <a:t>The engine executes; CUGA FLO reasons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11064240" cy="9525"/>
          </a:xfrm>
          <a:prstGeom prst="rect">
            <a:avLst/>
          </a:prstGeom>
          <a:solidFill>
            <a:srgbClr val="D8DE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1481328"/>
            <a:ext cx="110642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667085"/>
                </a:solidFill>
                <a:latin typeface="Calibri"/>
              </a:rPr>
              <a:t>The two sides never call each other directly. Everything crosses MCPFlowBridge — a single FastMCP server — so the execution engine is replaceable without touching a single agent.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2157984"/>
            <a:ext cx="3200400" cy="1051560"/>
          </a:xfrm>
          <a:prstGeom prst="roundRect">
            <a:avLst>
              <a:gd name="adj" fmla="val 5000"/>
            </a:avLst>
          </a:prstGeom>
          <a:solidFill>
            <a:srgbClr val="E9F7EC"/>
          </a:solidFill>
          <a:ln w="15875">
            <a:solidFill>
              <a:srgbClr val="3BA55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250" b="1">
                <a:solidFill>
                  <a:srgbClr val="1A2332"/>
                </a:solidFill>
                <a:latin typeface="Calibri"/>
              </a:rPr>
              <a:t>Workflow engine</a:t>
            </a:r>
          </a:p>
          <a:p>
            <a:pPr algn="ctr"/>
            <a:r>
              <a:rPr sz="1000">
                <a:solidFill>
                  <a:srgbClr val="667085"/>
                </a:solidFill>
                <a:latin typeface="Calibri"/>
              </a:rPr>
              <a:t>drives the BPMN graph
owns state and persistence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430768" y="2157984"/>
            <a:ext cx="3200400" cy="1051560"/>
          </a:xfrm>
          <a:prstGeom prst="roundRect">
            <a:avLst>
              <a:gd name="adj" fmla="val 5000"/>
            </a:avLst>
          </a:prstGeom>
          <a:solidFill>
            <a:srgbClr val="E6F2FF"/>
          </a:solidFill>
          <a:ln w="15875">
            <a:solidFill>
              <a:srgbClr val="3B7D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250" b="1">
                <a:solidFill>
                  <a:srgbClr val="1A2332"/>
                </a:solidFill>
                <a:latin typeface="Calibri"/>
              </a:rPr>
              <a:t>CUGA FLO</a:t>
            </a:r>
          </a:p>
          <a:p>
            <a:pPr algn="ctr"/>
            <a:r>
              <a:rPr sz="1000">
                <a:solidFill>
                  <a:srgbClr val="667085"/>
                </a:solidFill>
                <a:latin typeface="Calibri"/>
              </a:rPr>
              <a:t>FlowAgent · DecisionAgent
TaskAgent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24528" y="2157984"/>
            <a:ext cx="3749039" cy="1051560"/>
          </a:xfrm>
          <a:prstGeom prst="roundRect">
            <a:avLst>
              <a:gd name="adj" fmla="val 5000"/>
            </a:avLst>
          </a:prstGeom>
          <a:solidFill>
            <a:srgbClr val="FFF4E0"/>
          </a:solidFill>
          <a:ln w="15875">
            <a:solidFill>
              <a:srgbClr val="D891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43984" y="2395728"/>
            <a:ext cx="3291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1A2332"/>
                </a:solidFill>
                <a:latin typeface="Calibri"/>
              </a:rPr>
              <a:t>MCPFlowBridge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43984" y="2688336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950" b="0">
                <a:solidFill>
                  <a:srgbClr val="667085"/>
                </a:solidFill>
                <a:latin typeface="Calibri"/>
              </a:rPr>
              <a:t>one FastMCP server</a:t>
            </a:r>
          </a:p>
          <a:p>
            <a:pPr algn="ctr">
              <a:spcAft>
                <a:spcPts val="0"/>
              </a:spcAft>
            </a:pPr>
            <a:r>
              <a:rPr sz="950" b="0">
                <a:solidFill>
                  <a:srgbClr val="667085"/>
                </a:solidFill>
                <a:latin typeface="Calibri"/>
              </a:rPr>
              <a:t>in-process or over HTTP</a:t>
            </a:r>
          </a:p>
        </p:txBody>
      </p:sp>
      <p:sp>
        <p:nvSpPr>
          <p:cNvPr id="11" name="Left-Right Arrow 10"/>
          <p:cNvSpPr/>
          <p:nvPr/>
        </p:nvSpPr>
        <p:spPr>
          <a:xfrm>
            <a:off x="3822191" y="2606040"/>
            <a:ext cx="347472" cy="219456"/>
          </a:xfrm>
          <a:prstGeom prst="leftRightArrow">
            <a:avLst/>
          </a:prstGeom>
          <a:solidFill>
            <a:srgbClr val="6670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Left-Right Arrow 11"/>
          <p:cNvSpPr/>
          <p:nvPr/>
        </p:nvSpPr>
        <p:spPr>
          <a:xfrm>
            <a:off x="8028431" y="2606040"/>
            <a:ext cx="347472" cy="219456"/>
          </a:xfrm>
          <a:prstGeom prst="leftRightArrow">
            <a:avLst/>
          </a:prstGeom>
          <a:solidFill>
            <a:srgbClr val="6670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6928" y="3456432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667085"/>
                </a:solidFill>
                <a:latin typeface="Calibri"/>
              </a:rPr>
              <a:t>THE MCP CONTRACT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566928" y="3749039"/>
          <a:ext cx="5486400" cy="1737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00200"/>
                <a:gridCol w="1691640"/>
                <a:gridCol w="2194560"/>
              </a:tblGrid>
              <a:tr h="289560"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1A2332"/>
                          </a:solidFill>
                          <a:latin typeface="Calibri"/>
                        </a:rPr>
                        <a:t>Tool</a:t>
                      </a:r>
                    </a:p>
                  </a:txBody>
                  <a:tcPr marL="82296" marR="82296" marT="18288" marB="18288" anchor="ctr">
                    <a:solidFill>
                      <a:srgbClr val="E6F2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1A2332"/>
                          </a:solidFill>
                          <a:latin typeface="Calibri"/>
                        </a:rPr>
                        <a:t>Direction</a:t>
                      </a:r>
                    </a:p>
                  </a:txBody>
                  <a:tcPr marL="82296" marR="82296" marT="18288" marB="18288" anchor="ctr">
                    <a:solidFill>
                      <a:srgbClr val="E6F2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1A2332"/>
                          </a:solidFill>
                          <a:latin typeface="Calibri"/>
                        </a:rPr>
                        <a:t>Fires when</a:t>
                      </a:r>
                    </a:p>
                  </a:txBody>
                  <a:tcPr marL="82296" marR="82296" marT="18288" marB="18288" anchor="ctr">
                    <a:solidFill>
                      <a:srgbClr val="E6F2FF"/>
                    </a:solidFill>
                  </a:tcPr>
                </a:tc>
              </a:tr>
              <a:tr h="289560"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1A2332"/>
                          </a:solidFill>
                          <a:latin typeface="Calibri"/>
                        </a:rPr>
                        <a:t>run_process</a:t>
                      </a: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667085"/>
                          </a:solidFill>
                          <a:latin typeface="Calibri"/>
                        </a:rPr>
                        <a:t>FLO → engine</a:t>
                      </a: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667085"/>
                          </a:solidFill>
                          <a:latin typeface="Calibri"/>
                        </a:rPr>
                        <a:t>a process is started</a:t>
                      </a: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</a:tr>
              <a:tr h="289560"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1A2332"/>
                          </a:solidFill>
                          <a:latin typeface="Calibri"/>
                        </a:rPr>
                        <a:t>execute_task</a:t>
                      </a: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667085"/>
                          </a:solidFill>
                          <a:latin typeface="Calibri"/>
                        </a:rPr>
                        <a:t>engine → FLO</a:t>
                      </a: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667085"/>
                          </a:solidFill>
                          <a:latin typeface="Calibri"/>
                        </a:rPr>
                        <a:t>a task node is reached</a:t>
                      </a: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</a:tr>
              <a:tr h="289560"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1A2332"/>
                          </a:solidFill>
                          <a:latin typeface="Calibri"/>
                        </a:rPr>
                        <a:t>route_gateway</a:t>
                      </a: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667085"/>
                          </a:solidFill>
                          <a:latin typeface="Calibri"/>
                        </a:rPr>
                        <a:t>engine → FLO</a:t>
                      </a: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667085"/>
                          </a:solidFill>
                          <a:latin typeface="Calibri"/>
                        </a:rPr>
                        <a:t>a gateway needs a branch</a:t>
                      </a: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</a:tr>
              <a:tr h="289560"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1A2332"/>
                          </a:solidFill>
                          <a:latin typeface="Calibri"/>
                        </a:rPr>
                        <a:t>evaluate_hook</a:t>
                      </a: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667085"/>
                          </a:solidFill>
                          <a:latin typeface="Calibri"/>
                        </a:rPr>
                        <a:t>engine → FLO</a:t>
                      </a: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667085"/>
                          </a:solidFill>
                          <a:latin typeface="Calibri"/>
                        </a:rPr>
                        <a:t>an annotated edge is crossed</a:t>
                      </a: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</a:tr>
              <a:tr h="289560"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1A2332"/>
                          </a:solidFill>
                          <a:latin typeface="Calibri"/>
                        </a:rPr>
                        <a:t>complete_process</a:t>
                      </a: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667085"/>
                          </a:solidFill>
                          <a:latin typeface="Calibri"/>
                        </a:rPr>
                        <a:t>engine → FLO</a:t>
                      </a: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667085"/>
                          </a:solidFill>
                          <a:latin typeface="Calibri"/>
                        </a:rPr>
                        <a:t>the process terminates</a:t>
                      </a: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6400800" y="3456432"/>
            <a:ext cx="5230368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667085"/>
                </a:solidFill>
                <a:latin typeface="Calibri"/>
              </a:rPr>
              <a:t>WHAT A HOOK MAY DO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0" y="3749039"/>
            <a:ext cx="5230368" cy="17373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5875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38544" y="3950208"/>
            <a:ext cx="22860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1">
                <a:solidFill>
                  <a:srgbClr val="3B7DD8"/>
                </a:solidFill>
                <a:latin typeface="Consolas"/>
              </a:rPr>
              <a:t>CONTINUE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887968" y="3950208"/>
            <a:ext cx="2560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667085"/>
                </a:solidFill>
                <a:latin typeface="Calibri"/>
              </a:rPr>
              <a:t>proceed normally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38544" y="4197096"/>
            <a:ext cx="22860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1">
                <a:solidFill>
                  <a:srgbClr val="3B7DD8"/>
                </a:solidFill>
                <a:latin typeface="Consolas"/>
              </a:rPr>
              <a:t>SKIP_NODE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887968" y="4197096"/>
            <a:ext cx="2560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667085"/>
                </a:solidFill>
                <a:latin typeface="Calibri"/>
              </a:rPr>
              <a:t>no-op the next node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638544" y="4443984"/>
            <a:ext cx="22860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1">
                <a:solidFill>
                  <a:srgbClr val="3B7DD8"/>
                </a:solidFill>
                <a:latin typeface="Consolas"/>
              </a:rPr>
              <a:t>SKIP_TO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887968" y="4443984"/>
            <a:ext cx="2560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667085"/>
                </a:solidFill>
                <a:latin typeface="Calibri"/>
              </a:rPr>
              <a:t>jump to a named node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638544" y="4690872"/>
            <a:ext cx="22860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1">
                <a:solidFill>
                  <a:srgbClr val="3B7DD8"/>
                </a:solidFill>
                <a:latin typeface="Consolas"/>
              </a:rPr>
              <a:t>SWAP_NODES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887968" y="4690872"/>
            <a:ext cx="2560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667085"/>
                </a:solidFill>
                <a:latin typeface="Calibri"/>
              </a:rPr>
              <a:t>exchange two nodes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638544" y="4937760"/>
            <a:ext cx="22860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1">
                <a:solidFill>
                  <a:srgbClr val="3B7DD8"/>
                </a:solidFill>
                <a:latin typeface="Consolas"/>
              </a:rPr>
              <a:t>TERMINATE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887968" y="4937760"/>
            <a:ext cx="2560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667085"/>
                </a:solidFill>
                <a:latin typeface="Calibri"/>
              </a:rPr>
              <a:t>halt the process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638544" y="5184648"/>
            <a:ext cx="22860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1">
                <a:solidFill>
                  <a:srgbClr val="3B7DD8"/>
                </a:solidFill>
                <a:latin typeface="Consolas"/>
              </a:rPr>
              <a:t>REMOVE_NODE / ADD_NODE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887968" y="5184648"/>
            <a:ext cx="2560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667085"/>
                </a:solidFill>
                <a:latin typeface="Calibri"/>
              </a:rPr>
              <a:t>change the topology at runtime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66928" y="5705856"/>
            <a:ext cx="1106424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1A2332"/>
                </a:solidFill>
                <a:latin typeface="Calibri"/>
              </a:rPr>
              <a:t>CUGA FLO issues the instruction; the engine carries it out. Per-process action_permissions declare which of these a given process may use at all — a second governance layer above the hook policy itself.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>
                <a:solidFill>
                  <a:srgbClr val="3B7DD8"/>
                </a:solidFill>
                <a:latin typeface="Calibri"/>
              </a:rPr>
              <a:t>CUGA FLO · INTEGRATIONS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58368"/>
            <a:ext cx="109728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800" b="1">
                <a:solidFill>
                  <a:srgbClr val="1A2332"/>
                </a:solidFill>
                <a:latin typeface="Calibri"/>
              </a:rPr>
              <a:t>Three engines, one contract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11064240" cy="9525"/>
          </a:xfrm>
          <a:prstGeom prst="rect">
            <a:avLst/>
          </a:prstGeom>
          <a:solidFill>
            <a:srgbClr val="D8DE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1481328"/>
            <a:ext cx="1106424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667085"/>
                </a:solidFill>
                <a:latin typeface="Calibri"/>
              </a:rPr>
              <a:t>The same process runs on any of them. Which one is a deployment choice, not a design change — one line of YAML.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2084831"/>
            <a:ext cx="3566160" cy="21488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5875">
            <a:solidFill>
              <a:srgbClr val="3B7D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04672" y="2286000"/>
            <a:ext cx="3090672" cy="384048"/>
          </a:xfrm>
          <a:prstGeom prst="roundRect">
            <a:avLst/>
          </a:prstGeom>
          <a:solidFill>
            <a:srgbClr val="E6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3B7DD8"/>
                </a:solidFill>
                <a:latin typeface="Calibri"/>
              </a:rPr>
              <a:t>LangGraph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4672" y="2761488"/>
            <a:ext cx="3090672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67085"/>
                </a:solidFill>
                <a:latin typeface="Calibri"/>
              </a:rPr>
              <a:t>the demo backend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7" y="3145536"/>
            <a:ext cx="146304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3B7DD8"/>
                </a:solidFill>
                <a:latin typeface="Calibri"/>
              </a:rPr>
              <a:t>▪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9848" y="3136392"/>
            <a:ext cx="2788920" cy="4023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1A2332"/>
                </a:solidFill>
                <a:latin typeface="Calibri"/>
              </a:rPr>
              <a:t>Runs inside the same Python process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1247" y="3474720"/>
            <a:ext cx="146304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3B7DD8"/>
                </a:solidFill>
                <a:latin typeface="Calibri"/>
              </a:rPr>
              <a:t>▪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9848" y="3465576"/>
            <a:ext cx="2788920" cy="4023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1A2332"/>
                </a:solidFill>
                <a:latin typeface="Calibri"/>
              </a:rPr>
              <a:t>Nothing to install or start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1247" y="3803904"/>
            <a:ext cx="146304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3B7DD8"/>
                </a:solidFill>
                <a:latin typeface="Calibri"/>
              </a:rPr>
              <a:t>▪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69848" y="3794760"/>
            <a:ext cx="2788920" cy="4023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1A2332"/>
                </a:solidFill>
                <a:latin typeface="Calibri"/>
              </a:rPr>
              <a:t>Best for trying a process out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34256" y="2084831"/>
            <a:ext cx="3566160" cy="21488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5875">
            <a:solidFill>
              <a:srgbClr val="D891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4572000" y="2286000"/>
            <a:ext cx="3090672" cy="384048"/>
          </a:xfrm>
          <a:prstGeom prst="roundRect">
            <a:avLst/>
          </a:prstGeom>
          <a:solidFill>
            <a:srgbClr val="FFF4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D8913B"/>
                </a:solidFill>
                <a:latin typeface="Calibri"/>
              </a:rPr>
              <a:t>Flowable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0" y="2761488"/>
            <a:ext cx="3090672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67085"/>
                </a:solidFill>
                <a:latin typeface="Calibri"/>
              </a:rPr>
              <a:t>a running BPM engine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08576" y="3145536"/>
            <a:ext cx="146304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D8913B"/>
                </a:solidFill>
                <a:latin typeface="Calibri"/>
              </a:rPr>
              <a:t>▪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837176" y="3136392"/>
            <a:ext cx="2788920" cy="4023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1A2332"/>
                </a:solidFill>
                <a:latin typeface="Calibri"/>
              </a:rPr>
              <a:t>A container you start separately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608576" y="3474720"/>
            <a:ext cx="146304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D8913B"/>
                </a:solidFill>
                <a:latin typeface="Calibri"/>
              </a:rPr>
              <a:t>▪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837176" y="3465576"/>
            <a:ext cx="2788920" cy="4023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1A2332"/>
                </a:solidFill>
                <a:latin typeface="Calibri"/>
              </a:rPr>
              <a:t>Models are deployed to it at runtime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608576" y="3803904"/>
            <a:ext cx="146304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D8913B"/>
                </a:solidFill>
                <a:latin typeface="Calibri"/>
              </a:rPr>
              <a:t>▪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837176" y="3794760"/>
            <a:ext cx="2788920" cy="4023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1A2332"/>
                </a:solidFill>
                <a:latin typeface="Calibri"/>
              </a:rPr>
              <a:t>A mature, established BPM platform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101583" y="2084831"/>
            <a:ext cx="3566160" cy="21488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5875">
            <a:solidFill>
              <a:srgbClr val="3BA55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8339327" y="2286000"/>
            <a:ext cx="3090672" cy="384048"/>
          </a:xfrm>
          <a:prstGeom prst="roundRect">
            <a:avLst/>
          </a:prstGeom>
          <a:solidFill>
            <a:srgbClr val="E9F7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3BA55D"/>
                </a:solidFill>
                <a:latin typeface="Calibri"/>
              </a:rPr>
              <a:t>Kogito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339327" y="2761488"/>
            <a:ext cx="3090672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67085"/>
                </a:solidFill>
                <a:latin typeface="Calibri"/>
              </a:rPr>
              <a:t>a compiled service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375904" y="3145536"/>
            <a:ext cx="146304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3BA55D"/>
                </a:solidFill>
                <a:latin typeface="Calibri"/>
              </a:rPr>
              <a:t>▪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604504" y="3136392"/>
            <a:ext cx="2788920" cy="4023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1A2332"/>
                </a:solidFill>
                <a:latin typeface="Calibri"/>
              </a:rPr>
              <a:t>A Quarkus service built per app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75904" y="3474720"/>
            <a:ext cx="146304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3BA55D"/>
                </a:solidFill>
                <a:latin typeface="Calibri"/>
              </a:rPr>
              <a:t>▪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604504" y="3465576"/>
            <a:ext cx="2788920" cy="4023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1A2332"/>
                </a:solidFill>
                <a:latin typeface="Calibri"/>
              </a:rPr>
              <a:t>The model is compiled in, not deployed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375904" y="3803904"/>
            <a:ext cx="146304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3BA55D"/>
                </a:solidFill>
                <a:latin typeface="Calibri"/>
              </a:rPr>
              <a:t>▪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604504" y="3794760"/>
            <a:ext cx="2788920" cy="4023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1A2332"/>
                </a:solidFill>
                <a:latin typeface="Calibri"/>
              </a:rPr>
              <a:t>Cloud-native, starts in under a second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66928" y="4517136"/>
            <a:ext cx="5394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667085"/>
                </a:solidFill>
                <a:latin typeface="Calibri"/>
              </a:rPr>
              <a:t>CHOOSING ONE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66928" y="4809744"/>
            <a:ext cx="5394960" cy="786384"/>
          </a:xfrm>
          <a:prstGeom prst="roundRect">
            <a:avLst>
              <a:gd name="adj" fmla="val 5000"/>
            </a:avLst>
          </a:prstGeom>
          <a:solidFill>
            <a:srgbClr val="F5F7FA"/>
          </a:solidFill>
          <a:ln w="15875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/>
          <a:lstStyle/>
          <a:p>
            <a:pPr algn="l"/>
            <a:r>
              <a:rPr sz="1100">
                <a:solidFill>
                  <a:srgbClr val="1A2332"/>
                </a:solidFill>
                <a:latin typeface="Consolas"/>
              </a:rPr>
              <a:t>workflow_engine:</a:t>
            </a:r>
          </a:p>
          <a:p>
            <a:pPr algn="l"/>
            <a:r>
              <a:rPr sz="1100">
                <a:solidFill>
                  <a:srgbClr val="1A2332"/>
                </a:solidFill>
                <a:latin typeface="Consolas"/>
              </a:rPr>
              <a:t>  type: langgraph | flowable | kogito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36208" y="4517136"/>
            <a:ext cx="5394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667085"/>
                </a:solidFill>
                <a:latin typeface="Calibri"/>
              </a:rPr>
              <a:t>UNCHANGED ACROSS ALL THREE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236208" y="4809744"/>
            <a:ext cx="5394960" cy="78638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5875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473952" y="4974336"/>
            <a:ext cx="493776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1A2332"/>
                </a:solidFill>
                <a:latin typeface="Calibri"/>
              </a:rPr>
              <a:t>The policies · the task, gateway and hook configuration · the process model · and every agent.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66928" y="5870448"/>
            <a:ext cx="110642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1A2332"/>
                </a:solidFill>
                <a:latin typeface="Calibri"/>
              </a:rPr>
              <a:t>That portability is the point: the same governed process can move from a laptop demo to a production engine without rewriting how it reasons.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>
                <a:solidFill>
                  <a:srgbClr val="3B7DD8"/>
                </a:solidFill>
                <a:latin typeface="Calibri"/>
              </a:rPr>
              <a:t>CUGA FLO · AUTONOMY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58368"/>
            <a:ext cx="109728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800" b="1">
                <a:solidFill>
                  <a:srgbClr val="1A2332"/>
                </a:solidFill>
                <a:latin typeface="Calibri"/>
              </a:rPr>
              <a:t>Three evolving layers of autonomy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11064240" cy="9525"/>
          </a:xfrm>
          <a:prstGeom prst="rect">
            <a:avLst/>
          </a:prstGeom>
          <a:solidFill>
            <a:srgbClr val="D8DE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1481328"/>
            <a:ext cx="1106424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667085"/>
                </a:solidFill>
                <a:latin typeface="Calibri"/>
              </a:rPr>
              <a:t>Each layer widens what the LLM is trusted to decide — from doing the work, to choosing the path, to questioning the plan. Every one stays bounded by its own policy.</a:t>
            </a:r>
          </a:p>
        </p:txBody>
      </p:sp>
      <p:sp>
        <p:nvSpPr>
          <p:cNvPr id="6" name="Up Arrow 5"/>
          <p:cNvSpPr/>
          <p:nvPr/>
        </p:nvSpPr>
        <p:spPr>
          <a:xfrm>
            <a:off x="566928" y="2139696"/>
            <a:ext cx="310896" cy="3127248"/>
          </a:xfrm>
          <a:prstGeom prst="upArrow">
            <a:avLst/>
          </a:prstGeom>
          <a:solidFill>
            <a:srgbClr val="D8DE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170432" y="2139696"/>
            <a:ext cx="10460736" cy="93268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5875">
            <a:solidFill>
              <a:srgbClr val="3BA55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371600" y="2313432"/>
            <a:ext cx="2286000" cy="585216"/>
          </a:xfrm>
          <a:prstGeom prst="roundRect">
            <a:avLst/>
          </a:prstGeom>
          <a:solidFill>
            <a:srgbClr val="E9F7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50" b="1">
                <a:solidFill>
                  <a:srgbClr val="3BA55D"/>
                </a:solidFill>
                <a:latin typeface="Calibri"/>
              </a:rPr>
              <a:t>3 · FlowAgent</a:t>
            </a:r>
          </a:p>
          <a:p>
            <a:pPr algn="ctr"/>
            <a:r>
              <a:rPr sz="900">
                <a:solidFill>
                  <a:srgbClr val="667085"/>
                </a:solidFill>
                <a:latin typeface="Calibri"/>
              </a:rPr>
              <a:t>oversight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858768" y="2286000"/>
            <a:ext cx="9144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1">
                <a:solidFill>
                  <a:srgbClr val="667085"/>
                </a:solidFill>
                <a:latin typeface="Calibri"/>
              </a:rPr>
              <a:t>SCOPE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858768" y="2487168"/>
            <a:ext cx="2103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1A2332"/>
                </a:solidFill>
                <a:latin typeface="Calibri"/>
              </a:rPr>
              <a:t>the whole process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53328" y="2286000"/>
            <a:ext cx="10972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1">
                <a:solidFill>
                  <a:srgbClr val="667085"/>
                </a:solidFill>
                <a:latin typeface="Calibri"/>
              </a:rPr>
              <a:t>DECIDES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53328" y="2487168"/>
            <a:ext cx="21945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1A2332"/>
                </a:solidFill>
                <a:latin typeface="Calibri"/>
              </a:rPr>
              <a:t>whether to deviate at all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39327" y="2286000"/>
            <a:ext cx="13716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1">
                <a:solidFill>
                  <a:srgbClr val="667085"/>
                </a:solidFill>
                <a:latin typeface="Calibri"/>
              </a:rPr>
              <a:t>BOUNDED BY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39327" y="2487168"/>
            <a:ext cx="31089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667085"/>
                </a:solidFill>
                <a:latin typeface="Calibri"/>
              </a:rPr>
              <a:t>hook policy + action_permissions — may skip, jump, terminate or reshape, at declared hooks only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170432" y="3236976"/>
            <a:ext cx="10460736" cy="93268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5875">
            <a:solidFill>
              <a:srgbClr val="D891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1371600" y="3410712"/>
            <a:ext cx="2286000" cy="585216"/>
          </a:xfrm>
          <a:prstGeom prst="roundRect">
            <a:avLst/>
          </a:prstGeom>
          <a:solidFill>
            <a:srgbClr val="FFF4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50" b="1">
                <a:solidFill>
                  <a:srgbClr val="D8913B"/>
                </a:solidFill>
                <a:latin typeface="Calibri"/>
              </a:rPr>
              <a:t>2 · DecisionAgent</a:t>
            </a:r>
          </a:p>
          <a:p>
            <a:pPr algn="ctr"/>
            <a:r>
              <a:rPr sz="900">
                <a:solidFill>
                  <a:srgbClr val="667085"/>
                </a:solidFill>
                <a:latin typeface="Calibri"/>
              </a:rPr>
              <a:t>routing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858768" y="3383280"/>
            <a:ext cx="9144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1">
                <a:solidFill>
                  <a:srgbClr val="667085"/>
                </a:solidFill>
                <a:latin typeface="Calibri"/>
              </a:rPr>
              <a:t>SCOPE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858768" y="3584448"/>
            <a:ext cx="2103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1A2332"/>
                </a:solidFill>
                <a:latin typeface="Calibri"/>
              </a:rPr>
              <a:t>one gateway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053328" y="3383280"/>
            <a:ext cx="10972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1">
                <a:solidFill>
                  <a:srgbClr val="667085"/>
                </a:solidFill>
                <a:latin typeface="Calibri"/>
              </a:rPr>
              <a:t>DECIDES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053328" y="3584448"/>
            <a:ext cx="21945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1A2332"/>
                </a:solidFill>
                <a:latin typeface="Calibri"/>
              </a:rPr>
              <a:t>which branch is taken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39327" y="3383280"/>
            <a:ext cx="13716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1">
                <a:solidFill>
                  <a:srgbClr val="667085"/>
                </a:solidFill>
                <a:latin typeface="Calibri"/>
              </a:rPr>
              <a:t>BOUNDED BY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39327" y="3584448"/>
            <a:ext cx="31089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667085"/>
                </a:solidFill>
                <a:latin typeface="Calibri"/>
              </a:rPr>
              <a:t>gateway policy — the condition is evaluated first, the LLM only when it is inconclusive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170432" y="4334256"/>
            <a:ext cx="10460736" cy="93268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5875">
            <a:solidFill>
              <a:srgbClr val="3B7D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1371600" y="4507992"/>
            <a:ext cx="2286000" cy="585216"/>
          </a:xfrm>
          <a:prstGeom prst="roundRect">
            <a:avLst/>
          </a:prstGeom>
          <a:solidFill>
            <a:srgbClr val="E6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50" b="1">
                <a:solidFill>
                  <a:srgbClr val="3B7DD8"/>
                </a:solidFill>
                <a:latin typeface="Calibri"/>
              </a:rPr>
              <a:t>1 · TaskAgent</a:t>
            </a:r>
          </a:p>
          <a:p>
            <a:pPr algn="ctr"/>
            <a:r>
              <a:rPr sz="900">
                <a:solidFill>
                  <a:srgbClr val="667085"/>
                </a:solidFill>
                <a:latin typeface="Calibri"/>
              </a:rPr>
              <a:t>workload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858768" y="4480560"/>
            <a:ext cx="9144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1">
                <a:solidFill>
                  <a:srgbClr val="667085"/>
                </a:solidFill>
                <a:latin typeface="Calibri"/>
              </a:rPr>
              <a:t>SCOPE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858768" y="4681728"/>
            <a:ext cx="2103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1A2332"/>
                </a:solidFill>
                <a:latin typeface="Calibri"/>
              </a:rPr>
              <a:t>inside a single task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053328" y="4480560"/>
            <a:ext cx="10972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1">
                <a:solidFill>
                  <a:srgbClr val="667085"/>
                </a:solidFill>
                <a:latin typeface="Calibri"/>
              </a:rPr>
              <a:t>DECIDES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053328" y="4681728"/>
            <a:ext cx="21945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1A2332"/>
                </a:solidFill>
                <a:latin typeface="Calibri"/>
              </a:rPr>
              <a:t>how to fulfil the work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39327" y="4480560"/>
            <a:ext cx="13716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1">
                <a:solidFill>
                  <a:srgbClr val="667085"/>
                </a:solidFill>
                <a:latin typeface="Calibri"/>
              </a:rPr>
              <a:t>BOUNDED BY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39327" y="4681728"/>
            <a:ext cx="31089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667085"/>
                </a:solidFill>
                <a:latin typeface="Calibri"/>
              </a:rPr>
              <a:t>the task policy — it cannot change the path at all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66928" y="5541264"/>
            <a:ext cx="1106424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1A2332"/>
                </a:solidFill>
                <a:latin typeface="Calibri"/>
              </a:rPr>
              <a:t>Only the top layer can leave the nominal path — and only where a hook is declared and the action is permitted. That is the line between an adaptive process and an unpredictable one: autonomy is granted per point, not globally.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