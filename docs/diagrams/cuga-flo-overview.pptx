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B7DD8"/>
                </a:solidFill>
                <a:latin typeface="Calibri"/>
              </a:rPr>
              <a:t>CUGA FLO ·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Calibri"/>
              </a:rPr>
              <a:t>A process harness for agentic workflows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64240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67085"/>
                </a:solidFill>
                <a:latin typeface="Calibri"/>
              </a:rPr>
              <a:t>CUGA FLO separates deterministic process execution from agentic reasoning. The BPMN structure is enforced by a workflow engine; LLM reasoning is scoped to designated control points, and every permitted deviation is governed by policy and recorded.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57984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085"/>
                </a:solidFill>
                <a:latin typeface="Calibri"/>
              </a:rPr>
              <a:t>THE TRADE-OFF IT REFUSES TO MAKE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468880"/>
            <a:ext cx="26060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>
                <a:solidFill>
                  <a:srgbClr val="1A2332"/>
                </a:solidFill>
                <a:latin typeface="Calibri"/>
              </a:rPr>
              <a:t>Classical BPM</a:t>
            </a:r>
          </a:p>
          <a:p>
            <a:pPr algn="ctr"/>
            <a:r>
              <a:rPr sz="950">
                <a:solidFill>
                  <a:srgbClr val="667085"/>
                </a:solidFill>
                <a:latin typeface="Calibri"/>
              </a:rPr>
              <a:t>conformance, but rigid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2468880"/>
            <a:ext cx="26060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>
                <a:solidFill>
                  <a:srgbClr val="1A2332"/>
                </a:solidFill>
                <a:latin typeface="Calibri"/>
              </a:rPr>
              <a:t>LLM-as-planner</a:t>
            </a:r>
          </a:p>
          <a:p>
            <a:pPr algn="ctr"/>
            <a:r>
              <a:rPr sz="950">
                <a:solidFill>
                  <a:srgbClr val="667085"/>
                </a:solidFill>
                <a:latin typeface="Calibri"/>
              </a:rPr>
              <a:t>adaptive, no guarantees</a:t>
            </a:r>
          </a:p>
        </p:txBody>
      </p:sp>
      <p:sp>
        <p:nvSpPr>
          <p:cNvPr id="9" name="Down Arrow 8"/>
          <p:cNvSpPr/>
          <p:nvPr/>
        </p:nvSpPr>
        <p:spPr>
          <a:xfrm>
            <a:off x="3072384" y="3456432"/>
            <a:ext cx="365760" cy="310896"/>
          </a:xfrm>
          <a:prstGeom prst="downArrow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3913632"/>
            <a:ext cx="5394960" cy="841248"/>
          </a:xfrm>
          <a:prstGeom prst="roundRect">
            <a:avLst>
              <a:gd name="adj" fmla="val 5000"/>
            </a:avLst>
          </a:prstGeom>
          <a:solidFill>
            <a:srgbClr val="E6F2FF"/>
          </a:solidFill>
          <a:ln w="15875">
            <a:solidFill>
              <a:srgbClr val="3B7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>
                <a:solidFill>
                  <a:srgbClr val="1A2332"/>
                </a:solidFill>
                <a:latin typeface="Calibri"/>
              </a:rPr>
              <a:t>CUGA FLO</a:t>
            </a:r>
          </a:p>
          <a:p>
            <a:pPr algn="ctr"/>
            <a:r>
              <a:rPr sz="950">
                <a:solidFill>
                  <a:srgbClr val="667085"/>
                </a:solidFill>
                <a:latin typeface="Calibri"/>
              </a:rPr>
              <a:t>structure enforced · adaptation policy-bounded · every deviation audited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2157984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085"/>
                </a:solidFill>
                <a:latin typeface="Calibri"/>
              </a:rPr>
              <a:t>THREE REASONING LAYERS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2468880"/>
            <a:ext cx="53949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258775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B7DD8"/>
                </a:solidFill>
                <a:latin typeface="Calibri"/>
              </a:rPr>
              <a:t>FlowAgent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81635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alibri"/>
              </a:rPr>
              <a:t>the process as a whole — at hooks it may skip, jump,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alibri"/>
              </a:rPr>
              <a:t>terminate or reshape the flow, against a hook policy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3291840"/>
            <a:ext cx="53949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341071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B7DD8"/>
                </a:solidFill>
                <a:latin typeface="Calibri"/>
              </a:rPr>
              <a:t>DecisionAgent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363931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alibri"/>
              </a:rPr>
              <a:t>one gateway — condition evaluated first, LLM only when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alibri"/>
              </a:rPr>
              <a:t>the result is inconclusive; selects exactly one branch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4114800"/>
            <a:ext cx="53949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42336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B7DD8"/>
                </a:solidFill>
                <a:latin typeface="Calibri"/>
              </a:rPr>
              <a:t>TaskAgent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446227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alibri"/>
              </a:rPr>
              <a:t>one task — executes against the task policy and writes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alibri"/>
              </a:rPr>
              <a:t>results into the shared process variables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0292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085"/>
                </a:solidFill>
                <a:latin typeface="Calibri"/>
              </a:rPr>
              <a:t>WHERE IT FITS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340096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2332"/>
                </a:solidFill>
                <a:latin typeface="Calibri"/>
              </a:rPr>
              <a:t>Regulated, repeatable, auditable processes — loan approvals, compliance workflows, onboarding pipelines — where the sequence of steps must hold, but each step and each permitted intervention is still decided by policy rather than hard-coded.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B7DD8"/>
                </a:solidFill>
                <a:latin typeface="Calibri"/>
              </a:rPr>
              <a:t>CUGA FLO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Calibri"/>
              </a:rPr>
              <a:t>The engine executes; CUGA FLO reasons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64240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67085"/>
                </a:solidFill>
                <a:latin typeface="Calibri"/>
              </a:rPr>
              <a:t>The two sides never call each other directly. Everything crosses MCPFlowBridge — a single FastMCP server — so the execution engine is replaceable without touching a single agent.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157984"/>
            <a:ext cx="3200400" cy="1051560"/>
          </a:xfrm>
          <a:prstGeom prst="roundRect">
            <a:avLst>
              <a:gd name="adj" fmla="val 5000"/>
            </a:avLst>
          </a:prstGeom>
          <a:solidFill>
            <a:srgbClr val="E9F7EC"/>
          </a:solidFill>
          <a:ln w="15875">
            <a:solidFill>
              <a:srgbClr val="3BA5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>
                <a:solidFill>
                  <a:srgbClr val="1A2332"/>
                </a:solidFill>
                <a:latin typeface="Calibri"/>
              </a:rPr>
              <a:t>Workflow engine</a:t>
            </a:r>
          </a:p>
          <a:p>
            <a:pPr algn="ctr"/>
            <a:r>
              <a:rPr sz="950">
                <a:solidFill>
                  <a:srgbClr val="667085"/>
                </a:solidFill>
                <a:latin typeface="Calibri"/>
              </a:rPr>
              <a:t>drives the BPMN graph
owns state and persistence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30768" y="2157984"/>
            <a:ext cx="3200400" cy="1051560"/>
          </a:xfrm>
          <a:prstGeom prst="roundRect">
            <a:avLst>
              <a:gd name="adj" fmla="val 5000"/>
            </a:avLst>
          </a:prstGeom>
          <a:solidFill>
            <a:srgbClr val="E6F2FF"/>
          </a:solidFill>
          <a:ln w="15875">
            <a:solidFill>
              <a:srgbClr val="3B7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>
                <a:solidFill>
                  <a:srgbClr val="1A2332"/>
                </a:solidFill>
                <a:latin typeface="Calibri"/>
              </a:rPr>
              <a:t>CUGA FLO</a:t>
            </a:r>
          </a:p>
          <a:p>
            <a:pPr algn="ctr"/>
            <a:r>
              <a:rPr sz="950">
                <a:solidFill>
                  <a:srgbClr val="667085"/>
                </a:solidFill>
                <a:latin typeface="Calibri"/>
              </a:rPr>
              <a:t>FlowAgent · DecisionAgent
TaskAgent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4528" y="2157984"/>
            <a:ext cx="3749039" cy="1051560"/>
          </a:xfrm>
          <a:prstGeom prst="roundRect">
            <a:avLst>
              <a:gd name="adj" fmla="val 5000"/>
            </a:avLst>
          </a:prstGeom>
          <a:solidFill>
            <a:srgbClr val="FFF4E0"/>
          </a:solidFill>
          <a:ln w="15875">
            <a:solidFill>
              <a:srgbClr val="D89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3984" y="23957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A2332"/>
                </a:solidFill>
                <a:latin typeface="Calibri"/>
              </a:rPr>
              <a:t>MCPFlowBridge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3984" y="268833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alibri"/>
              </a:rPr>
              <a:t>one FastMCP server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alibri"/>
              </a:rPr>
              <a:t>in-process or over HTTP</a:t>
            </a:r>
          </a:p>
        </p:txBody>
      </p:sp>
      <p:sp>
        <p:nvSpPr>
          <p:cNvPr id="11" name="Left-Right Arrow 10"/>
          <p:cNvSpPr/>
          <p:nvPr/>
        </p:nvSpPr>
        <p:spPr>
          <a:xfrm>
            <a:off x="3822191" y="2606040"/>
            <a:ext cx="347472" cy="219456"/>
          </a:xfrm>
          <a:prstGeom prst="leftRightArrow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eft-Right Arrow 11"/>
          <p:cNvSpPr/>
          <p:nvPr/>
        </p:nvSpPr>
        <p:spPr>
          <a:xfrm>
            <a:off x="8028431" y="2606040"/>
            <a:ext cx="347472" cy="219456"/>
          </a:xfrm>
          <a:prstGeom prst="leftRightArrow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4564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085"/>
                </a:solidFill>
                <a:latin typeface="Calibri"/>
              </a:rPr>
              <a:t>THE MCP CONTRACT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6928" y="3749039"/>
          <a:ext cx="5486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91640"/>
                <a:gridCol w="2194560"/>
              </a:tblGrid>
              <a:tr h="28956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2332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marL="82296" marR="82296" marT="18288" marB="18288" anchor="ctr"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2332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 marL="82296" marR="82296" marT="18288" marB="18288" anchor="ctr"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2332"/>
                          </a:solidFill>
                          <a:latin typeface="Calibri"/>
                        </a:rPr>
                        <a:t>Fires when</a:t>
                      </a:r>
                    </a:p>
                  </a:txBody>
                  <a:tcPr marL="82296" marR="82296" marT="18288" marB="18288" anchor="ctr">
                    <a:solidFill>
                      <a:srgbClr val="E6F2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2332"/>
                          </a:solidFill>
                          <a:latin typeface="Calibri"/>
                        </a:rPr>
                        <a:t>run_process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7085"/>
                          </a:solidFill>
                          <a:latin typeface="Calibri"/>
                        </a:rPr>
                        <a:t>FLO → engine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7085"/>
                          </a:solidFill>
                          <a:latin typeface="Calibri"/>
                        </a:rPr>
                        <a:t>a process is started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2332"/>
                          </a:solidFill>
                          <a:latin typeface="Calibri"/>
                        </a:rPr>
                        <a:t>execute_task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7085"/>
                          </a:solidFill>
                          <a:latin typeface="Calibri"/>
                        </a:rPr>
                        <a:t>engine → FLO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7085"/>
                          </a:solidFill>
                          <a:latin typeface="Calibri"/>
                        </a:rPr>
                        <a:t>a task node is reached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2332"/>
                          </a:solidFill>
                          <a:latin typeface="Calibri"/>
                        </a:rPr>
                        <a:t>route_gateway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7085"/>
                          </a:solidFill>
                          <a:latin typeface="Calibri"/>
                        </a:rPr>
                        <a:t>engine → FLO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7085"/>
                          </a:solidFill>
                          <a:latin typeface="Calibri"/>
                        </a:rPr>
                        <a:t>a gateway needs a branch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2332"/>
                          </a:solidFill>
                          <a:latin typeface="Calibri"/>
                        </a:rPr>
                        <a:t>evaluate_hook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7085"/>
                          </a:solidFill>
                          <a:latin typeface="Calibri"/>
                        </a:rPr>
                        <a:t>engine → FLO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7085"/>
                          </a:solidFill>
                          <a:latin typeface="Calibri"/>
                        </a:rPr>
                        <a:t>an annotated edge is crossed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2332"/>
                          </a:solidFill>
                          <a:latin typeface="Calibri"/>
                        </a:rPr>
                        <a:t>complete_process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7085"/>
                          </a:solidFill>
                          <a:latin typeface="Calibri"/>
                        </a:rPr>
                        <a:t>engine → FLO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7085"/>
                          </a:solidFill>
                          <a:latin typeface="Calibri"/>
                        </a:rPr>
                        <a:t>the process terminates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400800" y="3456432"/>
            <a:ext cx="5230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085"/>
                </a:solidFill>
                <a:latin typeface="Calibri"/>
              </a:rPr>
              <a:t>WHAT A HOOK MAY 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749039"/>
            <a:ext cx="5230368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38544" y="3950208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B7DD8"/>
                </a:solidFill>
                <a:latin typeface="Consolas"/>
              </a:rPr>
              <a:t>CONTINUE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8" y="395020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alibri"/>
              </a:rPr>
              <a:t>proceed normally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4197096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B7DD8"/>
                </a:solidFill>
                <a:latin typeface="Consolas"/>
              </a:rPr>
              <a:t>SKIP_NODE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968" y="4197096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alibri"/>
              </a:rPr>
              <a:t>no-op the next node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444398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B7DD8"/>
                </a:solidFill>
                <a:latin typeface="Consolas"/>
              </a:rPr>
              <a:t>SKIP_TO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8" y="4443984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alibri"/>
              </a:rPr>
              <a:t>jump to a named node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544" y="469087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B7DD8"/>
                </a:solidFill>
                <a:latin typeface="Consolas"/>
              </a:rPr>
              <a:t>SWAP_NODES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8" y="469087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alibri"/>
              </a:rPr>
              <a:t>exchange two nodes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38544" y="493776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B7DD8"/>
                </a:solidFill>
                <a:latin typeface="Consolas"/>
              </a:rPr>
              <a:t>TERMINATE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493776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alibri"/>
              </a:rPr>
              <a:t>halt the process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8544" y="5184648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B7DD8"/>
                </a:solidFill>
                <a:latin typeface="Consolas"/>
              </a:rPr>
              <a:t>REMOVE_NODE / ADD_NODE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8" y="518464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alibri"/>
              </a:rPr>
              <a:t>change the topology at runtime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705856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alibri"/>
              </a:rPr>
              <a:t>CUGA FLO issues the instruction; the engine carries it out. Per-process action_permissions declare which of these a given process may use at all — a second governance layer above the hook policy itself.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B7DD8"/>
                </a:solidFill>
                <a:latin typeface="Calibri"/>
              </a:rPr>
              <a:t>CUGA FLO · INTEGRATIONS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Calibri"/>
              </a:rPr>
              <a:t>Three engines behind one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64240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67085"/>
                </a:solidFill>
                <a:latin typeface="Calibri"/>
              </a:rPr>
              <a:t>Selecting an engine is one line of YAML. The reasoning layer, the policies and the process definition are unchanged across all three.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993392"/>
          <a:ext cx="11064240" cy="2514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880360"/>
                <a:gridCol w="3108960"/>
                <a:gridCol w="3474720"/>
              </a:tblGrid>
              <a:tr h="35922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2332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82296" marR="82296" marT="18288" marB="18288" anchor="ctr"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2332"/>
                          </a:solidFill>
                          <a:latin typeface="Calibri"/>
                        </a:rPr>
                        <a:t>LangGraph</a:t>
                      </a:r>
                    </a:p>
                  </a:txBody>
                  <a:tcPr marL="82296" marR="82296" marT="18288" marB="18288" anchor="ctr"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2332"/>
                          </a:solidFill>
                          <a:latin typeface="Calibri"/>
                        </a:rPr>
                        <a:t>Flowable</a:t>
                      </a:r>
                    </a:p>
                  </a:txBody>
                  <a:tcPr marL="82296" marR="82296" marT="18288" marB="18288" anchor="ctr"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2332"/>
                          </a:solidFill>
                          <a:latin typeface="Calibri"/>
                        </a:rPr>
                        <a:t>Kogito</a:t>
                      </a:r>
                    </a:p>
                  </a:txBody>
                  <a:tcPr marL="82296" marR="82296" marT="18288" marB="18288" anchor="ctr">
                    <a:solidFill>
                      <a:srgbClr val="E6F2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2332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7085"/>
                          </a:solidFill>
                          <a:latin typeface="Calibri"/>
                        </a:rPr>
                        <a:t>in-process demo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7085"/>
                          </a:solidFill>
                          <a:latin typeface="Calibri"/>
                        </a:rPr>
                        <a:t>external engine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7085"/>
                          </a:solidFill>
                          <a:latin typeface="Calibri"/>
                        </a:rPr>
                        <a:t>external engine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2332"/>
                          </a:solidFill>
                          <a:latin typeface="Calibri"/>
                        </a:rPr>
                        <a:t>Adapter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7085"/>
                          </a:solidFill>
                          <a:latin typeface="Calibri"/>
                        </a:rPr>
                        <a:t>LangGraphWorkflowEngine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7085"/>
                          </a:solidFill>
                          <a:latin typeface="Calibri"/>
                        </a:rPr>
                        <a:t>FlowableProxy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7085"/>
                          </a:solidFill>
                          <a:latin typeface="Calibri"/>
                        </a:rPr>
                        <a:t>KogitoProxy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2332"/>
                          </a:solidFill>
                          <a:latin typeface="Calibri"/>
                        </a:rPr>
                        <a:t>Runtime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7085"/>
                          </a:solidFill>
                          <a:latin typeface="Calibri"/>
                        </a:rPr>
                        <a:t>same Python process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7085"/>
                          </a:solidFill>
                          <a:latin typeface="Calibri"/>
                        </a:rPr>
                        <a:t>Docker container :8080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7085"/>
                          </a:solidFill>
                          <a:latin typeface="Calibri"/>
                        </a:rPr>
                        <a:t>Quarkus service :8081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2332"/>
                          </a:solidFill>
                          <a:latin typeface="Calibri"/>
                        </a:rPr>
                        <a:t>MCP transport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7085"/>
                          </a:solidFill>
                          <a:latin typeface="Calibri"/>
                        </a:rPr>
                        <a:t>in-process FastMCPTransport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7085"/>
                          </a:solidFill>
                          <a:latin typeface="Calibri"/>
                        </a:rPr>
                        <a:t>HTTP :8090 callback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7085"/>
                          </a:solidFill>
                          <a:latin typeface="Calibri"/>
                        </a:rPr>
                        <a:t>HTTP :8090 callback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2332"/>
                          </a:solidFill>
                          <a:latin typeface="Calibri"/>
                        </a:rPr>
                        <a:t>BPMN deployed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7085"/>
                          </a:solidFill>
                          <a:latin typeface="Calibri"/>
                        </a:rPr>
                        <a:t>at graph compile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7085"/>
                          </a:solidFill>
                          <a:latin typeface="Calibri"/>
                        </a:rPr>
                        <a:t>at runtime, via REST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7085"/>
                          </a:solidFill>
                          <a:latin typeface="Calibri"/>
                        </a:rPr>
                        <a:t>at build time — no runtime deploy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2332"/>
                          </a:solidFill>
                          <a:latin typeface="Calibri"/>
                        </a:rPr>
                        <a:t>Hook redirect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7085"/>
                          </a:solidFill>
                          <a:latin typeface="Calibri"/>
                        </a:rPr>
                        <a:t>graph recompile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7085"/>
                          </a:solidFill>
                          <a:latin typeface="Calibri"/>
                        </a:rPr>
                        <a:t>BpmnError + boundary event</a:t>
                      </a:r>
                    </a:p>
                    <a:p>
                      <a:r>
                        <a:rPr sz="950" b="0">
                          <a:solidFill>
                            <a:srgbClr val="667085"/>
                          </a:solidFill>
                          <a:latin typeface="Calibri"/>
                        </a:rPr>
                        <a:t>+ Task_DynamicSkip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67085"/>
                          </a:solidFill>
                          <a:latin typeface="Calibri"/>
                        </a:rPr>
                        <a:t>FlowRedirect.to() — one script task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468172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085"/>
                </a:solidFill>
                <a:latin typeface="Calibri"/>
              </a:rPr>
              <a:t>SELECTING 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974336"/>
            <a:ext cx="5394960" cy="9144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000">
                <a:solidFill>
                  <a:srgbClr val="1A2332"/>
                </a:solidFill>
                <a:latin typeface="Consolas"/>
              </a:rPr>
              <a:t>workflow_engine:</a:t>
            </a:r>
          </a:p>
          <a:p>
            <a:pPr algn="l"/>
            <a:r>
              <a:rPr sz="1000">
                <a:solidFill>
                  <a:srgbClr val="1A2332"/>
                </a:solidFill>
                <a:latin typeface="Consolas"/>
              </a:rPr>
              <a:t>  type: langgraph | flowable | kogito</a:t>
            </a:r>
          </a:p>
          <a:p>
            <a:pPr algn="l"/>
            <a:r>
              <a:rPr sz="1000">
                <a:solidFill>
                  <a:srgbClr val="1A2332"/>
                </a:solidFill>
                <a:latin typeface="Consolas"/>
              </a:rPr>
              <a:t>  url:  http://localhost:8081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468172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085"/>
                </a:solidFill>
                <a:latin typeface="Calibri"/>
              </a:rPr>
              <a:t>IDENTICAL ACROSS ALL THREE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4974336"/>
            <a:ext cx="53949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5138928"/>
            <a:ext cx="4983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A2332"/>
                </a:solidFill>
                <a:latin typeface="Calibri"/>
              </a:rPr>
              <a:t>The policies/ markdown · the tasks, gateways and hooks config · the clean BPMN CUGA FLO parses · and every agent class. Only the engine-specific model differs — and LangGraph needs none at all.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089904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332"/>
                </a:solidFill>
                <a:latin typeface="Calibri"/>
              </a:rPr>
              <a:t>The LangGraph engine ships as the demo backend; Flowable and Kogito are the production-shaped integrations, each with its own README and BPMN transformation know-hows.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B7DD8"/>
                </a:solidFill>
                <a:latin typeface="Calibri"/>
              </a:rPr>
              <a:t>CUGA FLO · AUTONOMY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Calibri"/>
              </a:rPr>
              <a:t>Three evolving layers of autonomy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64240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67085"/>
                </a:solidFill>
                <a:latin typeface="Calibri"/>
              </a:rPr>
              <a:t>Each layer widens what the LLM is trusted to decide — from doing the work, to choosing the path, to questioning the plan. Every one stays bounded by its own policy.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463040" y="2084831"/>
            <a:ext cx="9235440" cy="182880"/>
          </a:xfrm>
          <a:prstGeom prst="rightArrow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847088"/>
            <a:ext cx="11064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alibri"/>
              </a:rPr>
              <a:t>scope widens  ·  autonomy grows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432304"/>
            <a:ext cx="356616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3B7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2633472"/>
            <a:ext cx="3090672" cy="310896"/>
          </a:xfrm>
          <a:prstGeom prst="roundRect">
            <a:avLst/>
          </a:prstGeom>
          <a:solidFill>
            <a:srgbClr val="E6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B7DD8"/>
                </a:solidFill>
                <a:latin typeface="Calibri"/>
              </a:rPr>
              <a:t>1 · WORKLOAD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98094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A2332"/>
                </a:solidFill>
                <a:latin typeface="Calibri"/>
              </a:rPr>
              <a:t>TaskAgent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01568"/>
            <a:ext cx="868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B7DD8"/>
                </a:solidFill>
                <a:latin typeface="Calibri"/>
              </a:rPr>
              <a:t>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40156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A2332"/>
                </a:solidFill>
                <a:latin typeface="Calibri"/>
              </a:rPr>
              <a:t>inside a single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9312"/>
            <a:ext cx="868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B7DD8"/>
                </a:solidFill>
                <a:latin typeface="Calibri"/>
              </a:rPr>
              <a:t>Decides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63931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A2332"/>
                </a:solidFill>
                <a:latin typeface="Calibri"/>
              </a:rPr>
              <a:t>how to fulfil the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77056"/>
            <a:ext cx="868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B7DD8"/>
                </a:solidFill>
                <a:latin typeface="Calibri"/>
              </a:rPr>
              <a:t>Bounded by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877056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A2332"/>
                </a:solidFill>
                <a:latin typeface="Calibri"/>
              </a:rPr>
              <a:t>the task 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14800"/>
            <a:ext cx="868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B7DD8"/>
                </a:solidFill>
                <a:latin typeface="Calibri"/>
              </a:rPr>
              <a:t>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1148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A2332"/>
                </a:solidFill>
                <a:latin typeface="Calibri"/>
              </a:rPr>
              <a:t>cannot change 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4256" y="2432304"/>
            <a:ext cx="356616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89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0" y="2633472"/>
            <a:ext cx="3090672" cy="310896"/>
          </a:xfrm>
          <a:prstGeom prst="round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D8913B"/>
                </a:solidFill>
                <a:latin typeface="Calibri"/>
              </a:rPr>
              <a:t>2 · ROUTING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98094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A2332"/>
                </a:solidFill>
                <a:latin typeface="Calibri"/>
              </a:rPr>
              <a:t>DecisionAgent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3401568"/>
            <a:ext cx="868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8913B"/>
                </a:solidFill>
                <a:latin typeface="Calibri"/>
              </a:rPr>
              <a:t>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4688" y="340156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A2332"/>
                </a:solidFill>
                <a:latin typeface="Calibri"/>
              </a:rPr>
              <a:t>one gateway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639312"/>
            <a:ext cx="868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8913B"/>
                </a:solidFill>
                <a:latin typeface="Calibri"/>
              </a:rPr>
              <a:t>Decides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04688" y="363931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A2332"/>
                </a:solidFill>
                <a:latin typeface="Calibri"/>
              </a:rPr>
              <a:t>which branch is taken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3877056"/>
            <a:ext cx="868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8913B"/>
                </a:solidFill>
                <a:latin typeface="Calibri"/>
              </a:rPr>
              <a:t>Bounded by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04688" y="3877056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A2332"/>
                </a:solidFill>
                <a:latin typeface="Calibri"/>
              </a:rPr>
              <a:t>gateway policy — the condition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A2332"/>
                </a:solidFill>
                <a:latin typeface="Calibri"/>
              </a:rPr>
              <a:t>is evaluated first, LLM only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A2332"/>
                </a:solidFill>
                <a:latin typeface="Calibri"/>
              </a:rPr>
              <a:t>when inconclusive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4407408"/>
            <a:ext cx="868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8913B"/>
                </a:solidFill>
                <a:latin typeface="Calibri"/>
              </a:rPr>
              <a:t>Path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04688" y="440740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A2332"/>
                </a:solidFill>
                <a:latin typeface="Calibri"/>
              </a:rPr>
              <a:t>chooses among modelled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A2332"/>
                </a:solidFill>
                <a:latin typeface="Calibri"/>
              </a:rPr>
              <a:t>branches only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01583" y="2432304"/>
            <a:ext cx="356616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3BA5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339327" y="2633472"/>
            <a:ext cx="3090672" cy="310896"/>
          </a:xfrm>
          <a:prstGeom prst="roundRect">
            <a:avLst/>
          </a:prstGeom>
          <a:solidFill>
            <a:srgbClr val="E9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BA55D"/>
                </a:solidFill>
                <a:latin typeface="Calibri"/>
              </a:rPr>
              <a:t>3 · OVERSIGHT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7" y="298094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A2332"/>
                </a:solidFill>
                <a:latin typeface="Calibri"/>
              </a:rPr>
              <a:t>FlowAgent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5" y="3401568"/>
            <a:ext cx="868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BA55D"/>
                </a:solidFill>
                <a:latin typeface="Calibri"/>
              </a:rPr>
              <a:t>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72015" y="340156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A2332"/>
                </a:solidFill>
                <a:latin typeface="Calibri"/>
              </a:rPr>
              <a:t>the whole process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7615" y="3639312"/>
            <a:ext cx="868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BA55D"/>
                </a:solidFill>
                <a:latin typeface="Calibri"/>
              </a:rPr>
              <a:t>Decides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72015" y="363931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A2332"/>
                </a:solidFill>
                <a:latin typeface="Calibri"/>
              </a:rPr>
              <a:t>whether to deviate at 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7615" y="3877056"/>
            <a:ext cx="868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BA55D"/>
                </a:solidFill>
                <a:latin typeface="Calibri"/>
              </a:rPr>
              <a:t>Bounded by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72015" y="3877056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A2332"/>
                </a:solidFill>
                <a:latin typeface="Calibri"/>
              </a:rPr>
              <a:t>hook policy, plus per-process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A2332"/>
                </a:solidFill>
                <a:latin typeface="Calibri"/>
              </a:rPr>
              <a:t>action_permissions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57615" y="4261104"/>
            <a:ext cx="868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BA55D"/>
                </a:solidFill>
                <a:latin typeface="Calibri"/>
              </a:rPr>
              <a:t>Path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72015" y="4261104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A2332"/>
                </a:solidFill>
                <a:latin typeface="Calibri"/>
              </a:rPr>
              <a:t>may skip, jump, terminate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A2332"/>
                </a:solidFill>
                <a:latin typeface="Calibri"/>
              </a:rPr>
              <a:t>or reshape — at declared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A2332"/>
                </a:solidFill>
                <a:latin typeface="Calibri"/>
              </a:rPr>
              <a:t>hooks only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513892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2332"/>
                </a:solidFill>
                <a:latin typeface="Calibri"/>
              </a:rPr>
              <a:t>Only the third layer can leave the nominal path — and only where a hook is declared and the action is permitted. That is the line between an adaptive process and an unpredictable one: autonomy is granted per point, not globally.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