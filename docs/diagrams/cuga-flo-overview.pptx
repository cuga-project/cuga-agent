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B7DD8"/>
                </a:solidFill>
                <a:latin typeface="Calibri"/>
              </a:rPr>
              <a:t>CUGA FLO ·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A2332"/>
                </a:solidFill>
                <a:latin typeface="Calibri"/>
              </a:rPr>
              <a:t>A process harness for agentic workflows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67085"/>
                </a:solidFill>
                <a:latin typeface="Calibri"/>
              </a:rPr>
              <a:t>CUGA FLO separates deterministic process execution from agentic reasoning. The BPMN structure is enforced by a workflow engine; LLM reasoning is scoped to designated control points, and every permitted deviation is governed by policy and recorded.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8600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THE TRADE-OFF IT REFUSES TO MAKE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596896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1A2332"/>
                </a:solidFill>
                <a:latin typeface="Calibri"/>
              </a:rPr>
              <a:t>Classical BPM</a:t>
            </a:r>
          </a:p>
          <a:p>
            <a:pPr algn="ctr"/>
            <a:r>
              <a:rPr sz="1000">
                <a:solidFill>
                  <a:srgbClr val="667085"/>
                </a:solidFill>
                <a:latin typeface="Calibri"/>
              </a:rPr>
              <a:t>structural conformance — but rigid at runtime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2596896"/>
            <a:ext cx="53949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400" b="1">
                <a:solidFill>
                  <a:srgbClr val="1A2332"/>
                </a:solidFill>
                <a:latin typeface="Calibri"/>
              </a:rPr>
              <a:t>LLM-as-planner</a:t>
            </a:r>
          </a:p>
          <a:p>
            <a:pPr algn="ctr"/>
            <a:r>
              <a:rPr sz="1000">
                <a:solidFill>
                  <a:srgbClr val="667085"/>
                </a:solidFill>
                <a:latin typeface="Calibri"/>
              </a:rPr>
              <a:t>adaptive — but no conformance guarantees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16168" y="3749039"/>
            <a:ext cx="365760" cy="365760"/>
          </a:xfrm>
          <a:prstGeom prst="down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66928" y="4261104"/>
            <a:ext cx="11064240" cy="1051560"/>
          </a:xfrm>
          <a:prstGeom prst="roundRect">
            <a:avLst>
              <a:gd name="adj" fmla="val 5000"/>
            </a:avLst>
          </a:prstGeom>
          <a:solidFill>
            <a:srgbClr val="E6F2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1A2332"/>
                </a:solidFill>
                <a:latin typeface="Calibri"/>
              </a:rPr>
              <a:t>CUGA FLO</a:t>
            </a:r>
          </a:p>
          <a:p>
            <a:pPr algn="ctr"/>
            <a:r>
              <a:rPr sz="1000">
                <a:solidFill>
                  <a:srgbClr val="667085"/>
                </a:solidFill>
                <a:latin typeface="Calibri"/>
              </a:rPr>
              <a:t>structure enforced  ·  adaptation policy-bounded  ·  every deviation recorded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614416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WHERE IT FITS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dirty="0">
                <a:solidFill>
                  <a:srgbClr val="1A2332"/>
                </a:solidFill>
                <a:latin typeface="Calibri"/>
              </a:rPr>
              <a:t>Repeatable</a:t>
            </a:r>
            <a:r>
              <a:rPr lang="en-US" sz="1150" b="0" dirty="0">
                <a:solidFill>
                  <a:srgbClr val="1A2332"/>
                </a:solidFill>
                <a:latin typeface="Calibri"/>
              </a:rPr>
              <a:t> </a:t>
            </a:r>
            <a:r>
              <a:rPr sz="1150" b="0" dirty="0">
                <a:solidFill>
                  <a:srgbClr val="1A2332"/>
                </a:solidFill>
                <a:latin typeface="Calibri"/>
              </a:rPr>
              <a:t>processes where the sequence of steps must hold, but each step and each permitted intervention is still decided by policy rather than hard-coded.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B7DD8"/>
                </a:solidFill>
                <a:latin typeface="Calibri"/>
              </a:rPr>
              <a:t>CUGA FLO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A2332"/>
                </a:solidFill>
                <a:latin typeface="Calibri"/>
              </a:rPr>
              <a:t>The engine executes; CUGA FLO reasons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67085"/>
                </a:solidFill>
                <a:latin typeface="Calibri"/>
              </a:rPr>
              <a:t>The two sides never call each other directly. Everything crosses MCPFlowBridge — a single FastMCP server — so the execution engine is replaceable without touching a single agent.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57984"/>
            <a:ext cx="3200400" cy="1051560"/>
          </a:xfrm>
          <a:prstGeom prst="roundRect">
            <a:avLst>
              <a:gd name="adj" fmla="val 5000"/>
            </a:avLst>
          </a:prstGeom>
          <a:solidFill>
            <a:srgbClr val="E9F7EC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50" b="1">
                <a:solidFill>
                  <a:srgbClr val="1A2332"/>
                </a:solidFill>
                <a:latin typeface="Calibri"/>
              </a:rPr>
              <a:t>Workflow engine</a:t>
            </a:r>
          </a:p>
          <a:p>
            <a:pPr algn="ctr"/>
            <a:r>
              <a:rPr sz="1000">
                <a:solidFill>
                  <a:srgbClr val="667085"/>
                </a:solidFill>
                <a:latin typeface="Calibri"/>
              </a:rPr>
              <a:t>drives the BPMN graph
owns state and persistence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30768" y="2157984"/>
            <a:ext cx="3200400" cy="1051560"/>
          </a:xfrm>
          <a:prstGeom prst="roundRect">
            <a:avLst>
              <a:gd name="adj" fmla="val 5000"/>
            </a:avLst>
          </a:prstGeom>
          <a:solidFill>
            <a:srgbClr val="E6F2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50" b="1">
                <a:solidFill>
                  <a:srgbClr val="1A2332"/>
                </a:solidFill>
                <a:latin typeface="Calibri"/>
              </a:rPr>
              <a:t>CUGA FLO</a:t>
            </a:r>
          </a:p>
          <a:p>
            <a:pPr algn="ctr"/>
            <a:r>
              <a:rPr sz="1000">
                <a:solidFill>
                  <a:srgbClr val="667085"/>
                </a:solidFill>
                <a:latin typeface="Calibri"/>
              </a:rPr>
              <a:t>FlowAgent · DecisionAgent
TaskAgent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2157984"/>
            <a:ext cx="3749039" cy="1051560"/>
          </a:xfrm>
          <a:prstGeom prst="roundRect">
            <a:avLst>
              <a:gd name="adj" fmla="val 5000"/>
            </a:avLst>
          </a:prstGeom>
          <a:solidFill>
            <a:srgbClr val="FFF4E0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43984" y="239572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32"/>
                </a:solidFill>
                <a:latin typeface="Calibri"/>
              </a:rPr>
              <a:t>MCPFlowBridge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688336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one FastMCP server</a:t>
            </a:r>
          </a:p>
          <a:p>
            <a:pPr algn="ctr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in-process or over HTTP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3822191" y="2606040"/>
            <a:ext cx="347472" cy="219456"/>
          </a:xfrm>
          <a:prstGeom prst="left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eft-Right Arrow 11"/>
          <p:cNvSpPr/>
          <p:nvPr/>
        </p:nvSpPr>
        <p:spPr>
          <a:xfrm>
            <a:off x="8028431" y="2606040"/>
            <a:ext cx="347472" cy="219456"/>
          </a:xfrm>
          <a:prstGeom prst="left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345643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THE MCP CONTRACT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3749039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 marL="82296" marR="82296" marT="18288" marB="18288" anchor="ctr">
                    <a:solidFill>
                      <a:srgbClr val="E6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Direction</a:t>
                      </a:r>
                    </a:p>
                  </a:txBody>
                  <a:tcPr marL="82296" marR="82296" marT="18288" marB="18288" anchor="ctr">
                    <a:solidFill>
                      <a:srgbClr val="E6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Fires when</a:t>
                      </a:r>
                    </a:p>
                  </a:txBody>
                  <a:tcPr marL="82296" marR="82296" marT="18288" marB="18288" anchor="ctr">
                    <a:solidFill>
                      <a:srgbClr val="E6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run_process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FLO → engine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a process is started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execute_task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engine → FLO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a task node is reached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route_gateway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engine → FLO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a gateway needs a branch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evaluate_hook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engine → FLO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an annotated edge is crossed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A2332"/>
                          </a:solidFill>
                          <a:latin typeface="Calibri"/>
                        </a:rPr>
                        <a:t>complete_process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engine → FLO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7085"/>
                          </a:solidFill>
                          <a:latin typeface="Calibri"/>
                        </a:rPr>
                        <a:t>the process terminates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0" y="3456432"/>
            <a:ext cx="523036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WHAT A HOOK MAY 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749039"/>
            <a:ext cx="5230368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38544" y="3950208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CONTINUE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7968" y="3950208"/>
            <a:ext cx="25603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proceed normally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4197096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SKIP_NODE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8" y="4197096"/>
            <a:ext cx="25603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no-op the next node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4" y="4443984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SKIP_TO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7968" y="4443984"/>
            <a:ext cx="25603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jump to a named node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544" y="4690872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SWAP_NODES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7968" y="4690872"/>
            <a:ext cx="25603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exchange two nodes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8544" y="4937760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TERMINATE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8" y="4937760"/>
            <a:ext cx="25603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halt the process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5184648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3B7DD8"/>
                </a:solidFill>
                <a:latin typeface="Consolas"/>
              </a:rPr>
              <a:t>REMOVE_NODE / ADD_NODE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5184648"/>
            <a:ext cx="25603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67085"/>
                </a:solidFill>
                <a:latin typeface="Calibri"/>
              </a:rPr>
              <a:t>change the topology at runtime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705856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2332"/>
                </a:solidFill>
                <a:latin typeface="Calibri"/>
              </a:rPr>
              <a:t>CUGA FLO issues the instruction; the engine carries it out. Per-process action_permissions declare which of these a given process may use at all — a second governance layer above the hook policy itself.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B7DD8"/>
                </a:solidFill>
                <a:latin typeface="Calibri"/>
              </a:rPr>
              <a:t>CUGA FLO · INTEGRATIONS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A2332"/>
                </a:solidFill>
                <a:latin typeface="Calibri"/>
              </a:rPr>
              <a:t>Three engines, one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67085"/>
                </a:solidFill>
                <a:latin typeface="Calibri"/>
              </a:rPr>
              <a:t>The same process runs on any of them. Which one is a deployment choice, not a design change — one line of YAML.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84831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04672" y="2286000"/>
            <a:ext cx="3090672" cy="384048"/>
          </a:xfrm>
          <a:prstGeom prst="roundRect">
            <a:avLst/>
          </a:prstGeom>
          <a:solidFill>
            <a:srgbClr val="E6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3B7DD8"/>
                </a:solidFill>
                <a:latin typeface="Calibri"/>
              </a:rPr>
              <a:t>LangGraph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761488"/>
            <a:ext cx="309067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the demo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145536"/>
            <a:ext cx="1463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136392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Runs inside the same Python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474720"/>
            <a:ext cx="1463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Nothing to install or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803904"/>
            <a:ext cx="1463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7DD8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794760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Best for trying a process out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2084831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572000" y="2286000"/>
            <a:ext cx="3090672" cy="384048"/>
          </a:xfrm>
          <a:prstGeom prst="round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D8913B"/>
                </a:solidFill>
                <a:latin typeface="Calibri"/>
              </a:rPr>
              <a:t>Flowable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761488"/>
            <a:ext cx="309067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a running BPM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145536"/>
            <a:ext cx="1463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8913B"/>
                </a:solidFill>
                <a:latin typeface="Calibri"/>
              </a:rPr>
              <a:t>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7176" y="3136392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A container you start separately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3474720"/>
            <a:ext cx="1463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8913B"/>
                </a:solidFill>
                <a:latin typeface="Calibri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3465576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Models are deployed to it at runtime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3803904"/>
            <a:ext cx="1463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8913B"/>
                </a:solidFill>
                <a:latin typeface="Calibri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37176" y="3794760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A mature, established BPM platform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084831"/>
            <a:ext cx="35661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339327" y="2286000"/>
            <a:ext cx="3090672" cy="384048"/>
          </a:xfrm>
          <a:prstGeom prst="roundRect">
            <a:avLst/>
          </a:prstGeom>
          <a:solidFill>
            <a:srgbClr val="E9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3BA55D"/>
                </a:solidFill>
                <a:latin typeface="Calibri"/>
              </a:rPr>
              <a:t>Kogito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761488"/>
            <a:ext cx="309067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a compiled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5904" y="3145536"/>
            <a:ext cx="1463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04504" y="3136392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A Quarkus service built per 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75904" y="3474720"/>
            <a:ext cx="1463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04504" y="3465576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The model is compiled in, not deployed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5904" y="3803904"/>
            <a:ext cx="1463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BA55D"/>
                </a:solidFill>
                <a:latin typeface="Calibri"/>
              </a:rPr>
              <a:t>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4504" y="3794760"/>
            <a:ext cx="278892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Cloud-native, starts in under a second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517136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CHOOSING 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809744"/>
            <a:ext cx="5394960" cy="786384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rtlCol="0" anchor="ctr"/>
          <a:lstStyle/>
          <a:p>
            <a:pPr algn="l"/>
            <a:r>
              <a:rPr sz="1100">
                <a:solidFill>
                  <a:srgbClr val="1A2332"/>
                </a:solidFill>
                <a:latin typeface="Consolas"/>
              </a:rPr>
              <a:t>workflow_engine:</a:t>
            </a:r>
          </a:p>
          <a:p>
            <a:pPr algn="l"/>
            <a:r>
              <a:rPr sz="1100">
                <a:solidFill>
                  <a:srgbClr val="1A2332"/>
                </a:solidFill>
                <a:latin typeface="Consolas"/>
              </a:rPr>
              <a:t>  type: langgraph | flowable | kogito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4517136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67085"/>
                </a:solidFill>
                <a:latin typeface="Calibri"/>
              </a:rPr>
              <a:t>UNCHANGED ACROSS ALL THREE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36208" y="4809744"/>
            <a:ext cx="5394960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73952" y="4974336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2332"/>
                </a:solidFill>
                <a:latin typeface="Calibri"/>
              </a:rPr>
              <a:t>The policies · the task, gateway and hook configuration · the process model · and every agent.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2332"/>
                </a:solidFill>
                <a:latin typeface="Calibri"/>
              </a:rPr>
              <a:t>That portability is the point: the same governed process can move from a laptop demo to a production engine without rewriting how it reasons.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3B7DD8"/>
                </a:solidFill>
                <a:latin typeface="Calibri"/>
              </a:rPr>
              <a:t>CUGA FLO · AUTONOMY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A2332"/>
                </a:solidFill>
                <a:latin typeface="Calibri"/>
              </a:rPr>
              <a:t>Three evolving layers of autonomy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6424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67085"/>
                </a:solidFill>
                <a:latin typeface="Calibri"/>
              </a:rPr>
              <a:t>Each layer widens what the LLM is trusted to decide — from doing the work, to choosing the path, to questioning the plan. Every one stays bounded by its own policy.</a:t>
            </a:r>
          </a:p>
        </p:txBody>
      </p:sp>
      <p:sp>
        <p:nvSpPr>
          <p:cNvPr id="6" name="Up Arrow 5"/>
          <p:cNvSpPr/>
          <p:nvPr/>
        </p:nvSpPr>
        <p:spPr>
          <a:xfrm>
            <a:off x="566928" y="2139696"/>
            <a:ext cx="310896" cy="3127248"/>
          </a:xfrm>
          <a:prstGeom prst="upArrow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170432" y="2139696"/>
            <a:ext cx="10460736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A5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371600" y="2313432"/>
            <a:ext cx="2286000" cy="585216"/>
          </a:xfrm>
          <a:prstGeom prst="roundRect">
            <a:avLst/>
          </a:prstGeom>
          <a:solidFill>
            <a:srgbClr val="E9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3BA55D"/>
                </a:solidFill>
                <a:latin typeface="Calibri"/>
              </a:rPr>
              <a:t>3 · FlowAgent</a:t>
            </a:r>
          </a:p>
          <a:p>
            <a:pPr algn="ctr"/>
            <a:r>
              <a:rPr sz="900">
                <a:solidFill>
                  <a:srgbClr val="667085"/>
                </a:solidFill>
                <a:latin typeface="Calibri"/>
              </a:rPr>
              <a:t>oversight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228600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248716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the whole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228600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DECIDES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24871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whether to deviate at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28600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BOUNDED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48716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hook policy + action_permissions — may skip, jump, terminate or reshape, at declared hooks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70432" y="3236976"/>
            <a:ext cx="10460736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891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371600" y="3410712"/>
            <a:ext cx="2286000" cy="585216"/>
          </a:xfrm>
          <a:prstGeom prst="round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8913B"/>
                </a:solidFill>
                <a:latin typeface="Calibri"/>
              </a:rPr>
              <a:t>2 · DecisionAgent</a:t>
            </a:r>
          </a:p>
          <a:p>
            <a:pPr algn="ctr"/>
            <a:r>
              <a:rPr sz="900">
                <a:solidFill>
                  <a:srgbClr val="667085"/>
                </a:solidFill>
                <a:latin typeface="Calibri"/>
              </a:rPr>
              <a:t>routing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768" y="338328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358444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one gateway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338328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DECIDES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358444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which branch is taken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38328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BOUNDED 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58444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gateway policy — the condition is evaluated first, the LLM only when it is inconclusive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70432" y="4334256"/>
            <a:ext cx="10460736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B7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371600" y="4507992"/>
            <a:ext cx="2286000" cy="585216"/>
          </a:xfrm>
          <a:prstGeom prst="roundRect">
            <a:avLst/>
          </a:prstGeom>
          <a:solidFill>
            <a:srgbClr val="E6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3B7DD8"/>
                </a:solidFill>
                <a:latin typeface="Calibri"/>
              </a:rPr>
              <a:t>1 · TaskAgent</a:t>
            </a:r>
          </a:p>
          <a:p>
            <a:pPr algn="ctr"/>
            <a:r>
              <a:rPr sz="900">
                <a:solidFill>
                  <a:srgbClr val="667085"/>
                </a:solidFill>
                <a:latin typeface="Calibri"/>
              </a:rPr>
              <a:t>workload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44805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468172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inside a single task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448056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DECIDES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46817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2332"/>
                </a:solidFill>
                <a:latin typeface="Calibri"/>
              </a:rPr>
              <a:t>how to fulfil the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448056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667085"/>
                </a:solidFill>
                <a:latin typeface="Calibri"/>
              </a:rPr>
              <a:t>BOUNDED BY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4681728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67085"/>
                </a:solidFill>
                <a:latin typeface="Calibri"/>
              </a:rPr>
              <a:t>the task policy — it cannot change the path at all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541264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2332"/>
                </a:solidFill>
                <a:latin typeface="Calibri"/>
              </a:rPr>
              <a:t>Only the top layer can leave the nominal path — and only where a hook is declared and the action is permitted. That is the line between an adaptive process and an unpredictable one: autonomy is granted per point, not globally.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680</Words>
  <Application>Microsoft Macintosh PowerPoint</Application>
  <PresentationFormat>Widescreen</PresentationFormat>
  <Paragraphs>116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LIOR LIMONAD</cp:lastModifiedBy>
  <cp:revision>2</cp:revision>
  <dcterms:created xsi:type="dcterms:W3CDTF">2013-01-27T09:14:16Z</dcterms:created>
  <dcterms:modified xsi:type="dcterms:W3CDTF">2026-08-12T11:17:42Z</dcterms:modified>
  <cp:category/>
</cp:coreProperties>
</file>