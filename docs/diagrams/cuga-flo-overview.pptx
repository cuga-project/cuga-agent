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A process harness for agentic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CUGA FLO separates deterministic process execution from agentic reasoning. The BPMN structure is enforced by a workflow engine; LLM reasoning is scoped to designated control points, and every permitted deviation is governed by policy and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5798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THE TRADE-OFF IT REFUSES TO MAKE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68880"/>
            <a:ext cx="260604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Classical BPM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conformance, but rigid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2468880"/>
            <a:ext cx="260604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LLM-as-planner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adaptive, no guarantees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072384" y="3456432"/>
            <a:ext cx="365760" cy="310896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3913632"/>
            <a:ext cx="5394960" cy="841248"/>
          </a:xfrm>
          <a:prstGeom prst="roundRect">
            <a:avLst>
              <a:gd name="adj" fmla="val 5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structure enforced · adaptation policy-bounded · every deviation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15798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THREE REASONING LAYERS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2468880"/>
            <a:ext cx="5394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58775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B7DD8"/>
                </a:solidFill>
                <a:latin typeface="Calibri"/>
              </a:rPr>
              <a:t>FlowAgent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81635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the process as a whole — at hooks it may skip, jump,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terminate or reshape the flow, against a hook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291840"/>
            <a:ext cx="5394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34107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B7DD8"/>
                </a:solidFill>
                <a:latin typeface="Calibri"/>
              </a:rPr>
              <a:t>DecisionAgent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6393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one gateway — condition evaluated first, LLM only when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the result is inconclusive; selects exactly one branch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4114800"/>
            <a:ext cx="539496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42336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B7DD8"/>
                </a:solidFill>
                <a:latin typeface="Calibri"/>
              </a:rPr>
              <a:t>TaskAgent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46227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one task — executes against the task policy and writes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results into the shared process variables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029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WHERE IT FITS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40096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2332"/>
                </a:solidFill>
                <a:latin typeface="Calibri"/>
              </a:rPr>
              <a:t>Regulated, repeatable, auditable processes — loan approvals, compliance workflows, onboarding pipelines — where the sequence of steps must hold, but each step and each permitted intervention is still decided by policy rather than hard-coded.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The engine executes; CUGA FLO reasons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The two sides never call each other directly. Everything crosses MCPFlowBridge — a single FastMCP server — so the execution engine is replaceable without touching a single agent.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57984"/>
            <a:ext cx="3200400" cy="1051560"/>
          </a:xfrm>
          <a:prstGeom prst="roundRect">
            <a:avLst>
              <a:gd name="adj" fmla="val 5000"/>
            </a:avLst>
          </a:prstGeom>
          <a:solidFill>
            <a:srgbClr val="E9F7EC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Workflow engine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drives the BPMN graph
owns state and persistence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30768" y="2157984"/>
            <a:ext cx="3200400" cy="1051560"/>
          </a:xfrm>
          <a:prstGeom prst="roundRect">
            <a:avLst>
              <a:gd name="adj" fmla="val 5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950">
                <a:solidFill>
                  <a:srgbClr val="667085"/>
                </a:solidFill>
                <a:latin typeface="Calibri"/>
              </a:rPr>
              <a:t>FlowAgent · DecisionAgent
TaskAgent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157984"/>
            <a:ext cx="3749039" cy="1051560"/>
          </a:xfrm>
          <a:prstGeom prst="roundRect">
            <a:avLst>
              <a:gd name="adj" fmla="val 5000"/>
            </a:avLst>
          </a:prstGeom>
          <a:solidFill>
            <a:srgbClr val="FFF4E0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23957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MCPFlowBridge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6883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one FastMCP server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in-process or over HTTP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3822191" y="2606040"/>
            <a:ext cx="347472" cy="219456"/>
          </a:xfrm>
          <a:prstGeom prst="left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-Right Arrow 11"/>
          <p:cNvSpPr/>
          <p:nvPr/>
        </p:nvSpPr>
        <p:spPr>
          <a:xfrm>
            <a:off x="8028431" y="2606040"/>
            <a:ext cx="347472" cy="219456"/>
          </a:xfrm>
          <a:prstGeom prst="left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564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THE MCP CONTRACT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3749039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91640"/>
                <a:gridCol w="2194560"/>
              </a:tblGrid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Fires when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run_process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FLO → engine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process is started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execute_task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task node is reached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route_gateway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gateway needs a branch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evaluate_hook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an annotated edge is crossed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complete_process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the process terminates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3456432"/>
            <a:ext cx="5230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WHAT A HOOK MAY 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5230368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544" y="395020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95020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proceed normally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41970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SKIP_NODE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4197096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no-op the next node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4" y="444398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SKIP_TO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4443984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jump to a named node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469087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SWAP_NODES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469087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exchange two nodes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49377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TERMINATE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4937760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halt the process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51846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REMOVE_NODE / ADD_NODE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464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change the topology at 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70585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2332"/>
                </a:solidFill>
                <a:latin typeface="Calibri"/>
              </a:rPr>
              <a:t>CUGA FLO issues the instruction; the engine carries it out. Per-process action_permissions declare which of these a given process may use at all — a second governance layer above the hook policy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Three engines, one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The same process runs on any of them. Which one is a deployment choice, not a design change — one line of YAML.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286000"/>
            <a:ext cx="3090672" cy="384048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B7DD8"/>
                </a:solidFill>
                <a:latin typeface="Calibri"/>
              </a:rPr>
              <a:t>LangGraph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6148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the demo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145536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136392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Runs inside the same Python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474720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Nothing to install or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803904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79476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Best for trying a process 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2286000"/>
            <a:ext cx="3090672" cy="384048"/>
          </a:xfrm>
          <a:prstGeom prst="round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8913B"/>
                </a:solidFill>
                <a:latin typeface="Calibri"/>
              </a:rPr>
              <a:t>Flowable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6148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 running BPM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145536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7176" y="3136392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container you start separately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474720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3465576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Models are deployed to it at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803904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37176" y="379476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mature, established BPM platform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39327" y="2286000"/>
            <a:ext cx="3090672" cy="384048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BA55D"/>
                </a:solidFill>
                <a:latin typeface="Calibri"/>
              </a:rPr>
              <a:t>Kogito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76148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 compiled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3145536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04504" y="3136392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Quarkus service built per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5904" y="3474720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4504" y="3465576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The model is compiled in, not deployed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4" y="3803904"/>
            <a:ext cx="146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4" y="3794760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Cloud-native, starts in under a second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51713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CHOOSING 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809744"/>
            <a:ext cx="5394960" cy="786384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100">
                <a:solidFill>
                  <a:srgbClr val="1A2332"/>
                </a:solidFill>
                <a:latin typeface="Consolas"/>
              </a:rPr>
              <a:t>workflow_engine:</a:t>
            </a:r>
          </a:p>
          <a:p>
            <a:pPr algn="l"/>
            <a:r>
              <a:rPr sz="1100">
                <a:solidFill>
                  <a:srgbClr val="1A2332"/>
                </a:solidFill>
                <a:latin typeface="Consolas"/>
              </a:rPr>
              <a:t>  type: langgraph | flowable | kogito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451713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UNCHANGED ACROSS ALL THREE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36208" y="4809744"/>
            <a:ext cx="539496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4974336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2332"/>
                </a:solidFill>
                <a:latin typeface="Calibri"/>
              </a:rPr>
              <a:t>The policies · the task, gateway and hook configuration · the process model · and every agent.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2332"/>
                </a:solidFill>
                <a:latin typeface="Calibri"/>
              </a:rPr>
              <a:t>That portability is the point: the same governed process can move from a laptop demo to a production engine without rewriting how it reasons.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Three evolving layers of autonomy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Each layer widens what the LLM is trusted to decide — from doing the work, to choosing the path, to questioning the plan. Every one stays bounded by its own policy.</a:t>
            </a:r>
          </a:p>
        </p:txBody>
      </p:sp>
      <p:sp>
        <p:nvSpPr>
          <p:cNvPr id="6" name="Up Arrow 5"/>
          <p:cNvSpPr/>
          <p:nvPr/>
        </p:nvSpPr>
        <p:spPr>
          <a:xfrm>
            <a:off x="566928" y="2139696"/>
            <a:ext cx="310896" cy="3127248"/>
          </a:xfrm>
          <a:prstGeom prst="upArrow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0432" y="213969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2313432"/>
            <a:ext cx="2286000" cy="585216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3BA55D"/>
                </a:solidFill>
                <a:latin typeface="Calibri"/>
              </a:rPr>
              <a:t>3 · FlowAgent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oversight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2860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48716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the whole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28600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4871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whether to deviate at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28600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871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hook policy + action_permissions — may skip, jump, terminate or reshape, at declared hooks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70432" y="323697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3410712"/>
            <a:ext cx="2286000" cy="585216"/>
          </a:xfrm>
          <a:prstGeom prst="round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8913B"/>
                </a:solidFill>
                <a:latin typeface="Calibri"/>
              </a:rPr>
              <a:t>2 · DecisionAgent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38328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358444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one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338328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5844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which branch is taken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3832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58444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gateway policy — the condition is evaluated first, the LLM only when it is inconclusive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70432" y="433425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71600" y="4507992"/>
            <a:ext cx="2286000" cy="585216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3B7DD8"/>
                </a:solidFill>
                <a:latin typeface="Calibri"/>
              </a:rPr>
              <a:t>1 · TaskAgent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workload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44805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6817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inside a single task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6817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how to fulfil the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4805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6817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the task policy — it cannot change the path at 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54126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2332"/>
                </a:solidFill>
                <a:latin typeface="Calibri"/>
              </a:rPr>
              <a:t>Only the top layer can leave the nominal path — and only where a hook is declared and the action is permitted. That is the line between an adaptive process and an unpredictable one: autonomy is granted per point, not globally.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