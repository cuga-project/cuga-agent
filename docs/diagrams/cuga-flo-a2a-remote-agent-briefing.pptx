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2" r:id="rId5"/>
    <p:sldId id="263" r:id="rId6"/>
    <p:sldId id="264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6817828" cy="13696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 dirty="0">
                <a:solidFill>
                  <a:srgbClr val="0B5C9E"/>
                </a:solidFill>
              </a:rPr>
              <a:t>CUGA FLO × A2A</a:t>
            </a:r>
          </a:p>
          <a:p>
            <a:r>
              <a:rPr sz="2200" dirty="0">
                <a:solidFill>
                  <a:srgbClr val="1A1A1A"/>
                </a:solidFill>
              </a:rPr>
              <a:t>Remote task fulfilment &amp; user consultation —</a:t>
            </a:r>
            <a:r>
              <a:rPr lang="en-US" sz="2200" dirty="0">
                <a:solidFill>
                  <a:srgbClr val="1A1A1A"/>
                </a:solidFill>
              </a:rPr>
              <a:t> </a:t>
            </a:r>
            <a:r>
              <a:rPr sz="2200" dirty="0">
                <a:solidFill>
                  <a:srgbClr val="1A1A1A"/>
                </a:solidFill>
              </a:rPr>
              <a:t>agent 0 card</a:t>
            </a:r>
          </a:p>
          <a:p>
            <a:r>
              <a:rPr sz="1500" i="1" dirty="0">
                <a:solidFill>
                  <a:srgbClr val="606060"/>
                </a:solidFill>
              </a:rPr>
              <a:t>Briefing for the team building agent 0   ·   from CUGA FLO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5C9E"/>
                </a:solidFill>
              </a:rP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One A2A server. CUGA FLO is the client.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A1A1A"/>
                </a:solidFill>
              </a:rPr>
              <a:t>• One endpoint, one agent card — reached for two purposes: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</a:rPr>
              <a:t>– The Excel capability in the business process — when a step needs a spreadsheet touched, the whole step is delegated to you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</a:rPr>
              <a:t>– The routing consultant — when a branch depends on what the user wants, you find out which way they prefer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</a:rPr>
              <a:t>• **You do NOT build:** an MCP server, any understanding of BPMN, or any CUGA FLO data structures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A1A1A"/>
                </a:solidFill>
              </a:rPr>
              <a:t>• Text in, text 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5C9E"/>
                </a:solidFill>
              </a:rPr>
              <a:t>One service, two capabilities — not two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solidFill>
            <a:srgbClr val="F2F3F5"/>
          </a:solidFill>
          <a:ln>
            <a:solidFill>
              <a:srgbClr val="D0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/>
            <a:r>
              <a:rPr sz="1200" dirty="0">
                <a:solidFill>
                  <a:srgbClr val="1A1A1A"/>
                </a:solidFill>
                <a:latin typeface="Courier New"/>
              </a:rPr>
              <a:t>GET /.well-known/agent-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card.json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  --&gt;  the card (advertises what you can do)</a:t>
            </a:r>
          </a:p>
          <a:p>
            <a:endParaRPr sz="1200" dirty="0">
              <a:solidFill>
                <a:srgbClr val="1A1A1A"/>
              </a:solidFill>
              <a:latin typeface="Courier New"/>
            </a:endParaRP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POST message/send  --&gt;  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AgentExecutor.execute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(context, 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event_queue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)   &lt;- one entry point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                        |  read metadata["variables"]["role"]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                        |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                        +- "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fulfill_task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"            -&gt; do the spreadsheet work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                        +- "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elicit_user_preference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"  -&gt; interview the user</a:t>
            </a:r>
            <a:r>
              <a:rPr lang="en-US" sz="1200" dirty="0">
                <a:solidFill>
                  <a:srgbClr val="1A1A1A"/>
                </a:solidFill>
                <a:latin typeface="Courier New"/>
              </a:rPr>
              <a:t> (routing </a:t>
            </a:r>
            <a:r>
              <a:rPr lang="en-US" sz="1200" dirty="0" err="1">
                <a:solidFill>
                  <a:srgbClr val="1A1A1A"/>
                </a:solidFill>
                <a:latin typeface="Courier New"/>
              </a:rPr>
              <a:t>pref</a:t>
            </a:r>
            <a:r>
              <a:rPr lang="en-US" sz="1200" dirty="0">
                <a:solidFill>
                  <a:srgbClr val="1A1A1A"/>
                </a:solidFill>
                <a:latin typeface="Courier New"/>
              </a:rPr>
              <a:t>)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, report 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5C9E"/>
                </a:solidFill>
              </a:rPr>
              <a:t>The agent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name and description are injected into the deciding agent's prompt — not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solidFill>
            <a:srgbClr val="F2F3F5"/>
          </a:solidFill>
          <a:ln>
            <a:solidFill>
              <a:srgbClr val="D0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/>
            <a:r>
              <a:rPr sz="1200" dirty="0">
                <a:solidFill>
                  <a:srgbClr val="1A1A1A"/>
                </a:solidFill>
                <a:latin typeface="Courier New"/>
              </a:rPr>
              <a:t>{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"name": "agent0",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"description": "Performs retrieve, update and function/macro operations on Excel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  spreadsheets, asking the user for any operation parameters the request does not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  supply and handling dialogs those operations raise. Separately, reports the user's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  preference between alternative routes when the process reaches a decision point.",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"version": "1.0.0",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"capabilities": { "streaming": false, "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push_notifications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": false },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"skills": [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  { "id": "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fulfill_task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",            "name": "Perform a spreadsheet operation",  ... },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  { "id": "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elicit_user_preference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",  "name": "Ask the user which way to go",     ... }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]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}</a:t>
            </a:r>
          </a:p>
          <a:p>
            <a:endParaRPr sz="1200" dirty="0">
              <a:solidFill>
                <a:srgbClr val="1A1A1A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5C9E"/>
                </a:solidFill>
              </a:rPr>
              <a:t>Skill: fulfill_task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One request type, three operations you distinguish from the statement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</a:rPr>
              <a:t>• **RETRIEVE** — read a table, cells, or a column across a row range; report that it was retrieved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</a:rPr>
              <a:t>• **UPDATE** — write values into cells / a column for identified rows; answer any confirmation or validation dialogs raised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</a:rPr>
              <a:t>• **RUN FUNCTION** — execute a named function, macro or bot routine; report its outcome (including failures)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A1A1A"/>
                </a:solidFill>
              </a:rPr>
              <a:t>• The statement carries the operation type — CUGA FLO sends a goal, not a typed call. Your intent parsing is load-bearing.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</a:rPr>
              <a:t>– A statement that does not clearly indicate one of the three: fail, do not guess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A1A1A"/>
                </a:solidFill>
              </a:rPr>
              <a:t>• A 'user escalation:' block may name parameters you must obtain from the user before proceeding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</a:rPr>
              <a:t>– Escalation block present -&gt; ask the user, then act.   No block, parameter missing -&gt; fail with what was missing.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</a:rPr>
              <a:t>• **Reply with the outcome, not the payload** — one line that reads well in a process trace; no tables or row dumps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5C9E"/>
                </a:solidFill>
              </a:rPr>
              <a:t>Skill: elicit_user_preference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Used only at branch points — a routing question, nothing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</a:rPr>
              <a:t>• Obtain the user's preference between the alternative routes available at a decision point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</a:rPr>
              <a:t>• It is a conversation, not a form — explain the alternatives, ask follow-ups where ambiguous, confirm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</a:rPr>
              <a:t>• **Report the preference — never state the routing decision.** CUGA FLO makes the decision.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</a:rPr>
              <a:t>– "User prefers 'run function' over another update round."     — yes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</a:rPr>
              <a:t>– "Run the function next."                                        — no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</a:rPr>
              <a:t>• Does NOT gather operation parameters — a request for a line item or a row value arrives as fulfill_task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</a:rPr>
              <a:t>• When the user was ambiguous, say so in the text — "best reading is X" beats a confident guess; CUGA FLO can route on that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5C9E"/>
                </a:solidFill>
              </a:rPr>
              <a:t>Worked example — fulfill_task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You receive the task instruction verbatim, escalation block included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72800" cy="3931920"/>
          </a:xfrm>
          <a:prstGeom prst="rect">
            <a:avLst/>
          </a:prstGeom>
          <a:solidFill>
            <a:srgbClr val="F2F3F5"/>
          </a:solidFill>
          <a:ln>
            <a:solidFill>
              <a:srgbClr val="D0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r>
              <a:rPr sz="1200" dirty="0">
                <a:solidFill>
                  <a:srgbClr val="1A1A1A"/>
                </a:solidFill>
                <a:latin typeface="Courier New"/>
              </a:rPr>
              <a:t>IN: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Produce the table for line item $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line_item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 on sheet ALL ACCOUNTS 1H. It should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return the four columns Modeled $ USD, Current Validated $ USD, Adjustment $ USD,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Final Validated $ USD and the corresponding rows from row label column Coverage Name.</a:t>
            </a:r>
          </a:p>
          <a:p>
            <a:endParaRPr sz="1200" dirty="0">
              <a:solidFill>
                <a:srgbClr val="1A1A1A"/>
              </a:solidFill>
              <a:latin typeface="Courier New"/>
            </a:endParaRP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user escalation: Which line item ($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line_item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)?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where: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$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line_item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 : The identifier of the table (line item) to retrieve from the sheet.</a:t>
            </a:r>
          </a:p>
          <a:p>
            <a:endParaRPr lang="en-US" sz="1200" dirty="0">
              <a:solidFill>
                <a:srgbClr val="1A1A1A"/>
              </a:solidFill>
              <a:latin typeface="Courier New"/>
            </a:endParaRPr>
          </a:p>
          <a:p>
            <a:r>
              <a:rPr lang="en-US" sz="1200" dirty="0">
                <a:solidFill>
                  <a:srgbClr val="1A1A1A"/>
                </a:solidFill>
                <a:latin typeface="Courier New"/>
              </a:rPr>
              <a:t>DO: Ask the user for $</a:t>
            </a:r>
            <a:r>
              <a:rPr lang="en-US" sz="1200" dirty="0" err="1">
                <a:solidFill>
                  <a:srgbClr val="1A1A1A"/>
                </a:solidFill>
                <a:latin typeface="Courier New"/>
              </a:rPr>
              <a:t>line_item</a:t>
            </a:r>
            <a:r>
              <a:rPr lang="en-US" sz="1200" dirty="0">
                <a:solidFill>
                  <a:srgbClr val="1A1A1A"/>
                </a:solidFill>
                <a:latin typeface="Courier New"/>
              </a:rPr>
              <a:t>, perform the retrieval, then reply with the outcome.</a:t>
            </a:r>
            <a:endParaRPr lang="en-IL" sz="1200" dirty="0">
              <a:solidFill>
                <a:srgbClr val="1A1A1A"/>
              </a:solidFill>
              <a:latin typeface="Courier New"/>
            </a:endParaRPr>
          </a:p>
          <a:p>
            <a:endParaRPr sz="1200" dirty="0">
              <a:solidFill>
                <a:srgbClr val="1A1A1A"/>
              </a:solidFill>
              <a:latin typeface="Courier New"/>
            </a:endParaRP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OUT: Retrieved line item 'Cloud Platform' from ALL ACCOUNTS 1H - 14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06060"/>
                </a:solidFill>
              </a:rPr>
              <a:t>CUGA FLO records this in the process trace to know the step succeeded. It does not parse the reply for values; nothing downstream consumes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5C9E"/>
                </a:solidFill>
              </a:rPr>
              <a:t>Worked example — elicit_user_preference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You receive a question the calling agent composed — parse for intent, not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solidFill>
            <a:srgbClr val="F2F3F5"/>
          </a:solidFill>
          <a:ln>
            <a:solidFill>
              <a:srgbClr val="D0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r>
              <a:rPr sz="1200" dirty="0">
                <a:solidFill>
                  <a:srgbClr val="1A1A1A"/>
                </a:solidFill>
                <a:latin typeface="Courier New"/>
              </a:rPr>
              <a:t>IN: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Choose the outgoing flow based on the user's input.</a:t>
            </a:r>
          </a:p>
          <a:p>
            <a:endParaRPr sz="1200" dirty="0">
              <a:solidFill>
                <a:srgbClr val="1A1A1A"/>
              </a:solidFill>
              <a:latin typeface="Courier New"/>
            </a:endParaRP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user escalation: Ask user to choose any one of the possible outgoing flows: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update again, run function</a:t>
            </a:r>
          </a:p>
          <a:p>
            <a:endParaRPr sz="1200" dirty="0">
              <a:solidFill>
                <a:srgbClr val="1A1A1A"/>
              </a:solidFill>
              <a:latin typeface="Courier New"/>
            </a:endParaRPr>
          </a:p>
          <a:p>
            <a:r>
              <a:rPr lang="en-US" sz="1200" dirty="0">
                <a:solidFill>
                  <a:srgbClr val="1A1A1A"/>
                </a:solidFill>
                <a:latin typeface="Courier New"/>
              </a:rPr>
              <a:t>DO: (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CONVERSATION</a:t>
            </a:r>
            <a:r>
              <a:rPr lang="en-US" sz="1200" dirty="0">
                <a:solidFill>
                  <a:srgbClr val="1A1A1A"/>
                </a:solidFill>
                <a:latin typeface="Courier New"/>
              </a:rPr>
              <a:t>)</a:t>
            </a:r>
            <a:endParaRPr sz="1200" dirty="0">
              <a:solidFill>
                <a:srgbClr val="1A1A1A"/>
              </a:solidFill>
              <a:latin typeface="Courier New"/>
            </a:endParaRP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agent0: Update another row, or move on to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        running the budget interlock function?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user:   Just carry on.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agent0: Running the function next, no further updates - correct?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user:   Correct.</a:t>
            </a:r>
          </a:p>
          <a:p>
            <a:endParaRPr sz="1200" dirty="0">
              <a:solidFill>
                <a:srgbClr val="1A1A1A"/>
              </a:solidFill>
              <a:latin typeface="Courier New"/>
            </a:endParaRP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OUT: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  User prefers 'run function' over another update round.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5C9E"/>
                </a:solidFill>
              </a:rPr>
              <a:t>Behavioural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CUGA FLO's constraints — they matter more than the plumbing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dirty="0">
                <a:solidFill>
                  <a:srgbClr val="1A1A1A"/>
                </a:solidFill>
              </a:rPr>
              <a:t>• **Report the outcome, not the payload** — one clear sentence beats a table</a:t>
            </a:r>
          </a:p>
          <a:p>
            <a:pPr>
              <a:spcAft>
                <a:spcPts val="700"/>
              </a:spcAft>
            </a:pPr>
            <a:r>
              <a:rPr sz="1700" b="0" dirty="0">
                <a:solidFill>
                  <a:srgbClr val="1A1A1A"/>
                </a:solidFill>
              </a:rPr>
              <a:t>• **Fail loudly and specifically** — "Sheet ALL ACCOUNTS 1H not found" is actionable; "Operation failed" is not</a:t>
            </a:r>
          </a:p>
          <a:p>
            <a:pPr>
              <a:spcAft>
                <a:spcPts val="700"/>
              </a:spcAft>
            </a:pPr>
            <a:r>
              <a:rPr sz="1700" b="0" dirty="0">
                <a:solidFill>
                  <a:srgbClr val="1A1A1A"/>
                </a:solidFill>
              </a:rPr>
              <a:t>• **Responses are plain text** — CUGA FLO's client discards response metadata; nothing you put there is read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1804</TotalTime>
  <Words>1086</Words>
  <Application>Microsoft Macintosh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LIOR LIMONAD</cp:lastModifiedBy>
  <cp:revision>2</cp:revision>
  <dcterms:created xsi:type="dcterms:W3CDTF">2013-01-27T09:14:16Z</dcterms:created>
  <dcterms:modified xsi:type="dcterms:W3CDTF">2026-09-02T13:39:28Z</dcterms:modified>
  <cp:category/>
</cp:coreProperties>
</file>