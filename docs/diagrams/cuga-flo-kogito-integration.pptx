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3B7DD8"/>
                </a:solidFill>
                <a:latin typeface="Calibri"/>
              </a:rPr>
              <a:t>CUGA FLO · WORKFLOW ENGINE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A2332"/>
                </a:solidFill>
                <a:latin typeface="Calibri"/>
              </a:rPr>
              <a:t>Running BPMN on Apache KIE (Kogito)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64240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667085"/>
                </a:solidFill>
                <a:latin typeface="Calibri"/>
              </a:rPr>
              <a:t>A third execution engine alongside LangGraph and Flowable. Kogito owns process state; CUGA FLO supplies LLM reasoning at every control point — through the same MCP bridge, with the reasoning layer unchanged.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240280"/>
            <a:ext cx="2514600" cy="1051560"/>
          </a:xfrm>
          <a:prstGeom prst="roundRect">
            <a:avLst>
              <a:gd name="adj" fmla="val 8000"/>
            </a:avLst>
          </a:prstGeom>
          <a:solidFill>
            <a:srgbClr val="E6F2FF"/>
          </a:solidFill>
          <a:ln w="15875">
            <a:solidFill>
              <a:srgbClr val="3B7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A2332"/>
                </a:solidFill>
                <a:latin typeface="Calibri"/>
              </a:rPr>
              <a:t>CUGA FLO</a:t>
            </a:r>
          </a:p>
          <a:p>
            <a:pPr algn="ctr"/>
            <a:r>
              <a:rPr sz="950">
                <a:solidFill>
                  <a:srgbClr val="667085"/>
                </a:solidFill>
                <a:latin typeface="Calibri"/>
              </a:rPr>
              <a:t>FlowAgent · TaskAgent
DecisionAgent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46120" y="2660904"/>
            <a:ext cx="548640" cy="201168"/>
          </a:xfrm>
          <a:prstGeom prst="rightArrow">
            <a:avLst/>
          </a:prstGeom>
          <a:solidFill>
            <a:srgbClr val="667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50208" y="2240280"/>
            <a:ext cx="2286000" cy="105156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15875">
            <a:solidFill>
              <a:srgbClr val="D89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A2332"/>
                </a:solidFill>
                <a:latin typeface="Calibri"/>
              </a:rPr>
              <a:t>MCPFlowBridge</a:t>
            </a:r>
          </a:p>
          <a:p>
            <a:pPr algn="ctr"/>
            <a:r>
              <a:rPr sz="950">
                <a:solidFill>
                  <a:srgbClr val="667085"/>
                </a:solidFill>
                <a:latin typeface="Calibri"/>
              </a:rPr>
              <a:t>single FastMCP server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400800" y="2660904"/>
            <a:ext cx="548640" cy="201168"/>
          </a:xfrm>
          <a:prstGeom prst="rightArrow">
            <a:avLst/>
          </a:prstGeom>
          <a:solidFill>
            <a:srgbClr val="667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2350008"/>
            <a:ext cx="768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alibri"/>
              </a:rPr>
              <a:t>run_process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04888" y="2240280"/>
            <a:ext cx="2011680" cy="1051560"/>
          </a:xfrm>
          <a:prstGeom prst="roundRect">
            <a:avLst>
              <a:gd name="adj" fmla="val 8000"/>
            </a:avLst>
          </a:prstGeom>
          <a:solidFill>
            <a:srgbClr val="E6F2FF"/>
          </a:solidFill>
          <a:ln w="15875">
            <a:solidFill>
              <a:srgbClr val="3B7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A2332"/>
                </a:solidFill>
                <a:latin typeface="Calibri"/>
              </a:rPr>
              <a:t>KogitoProxy</a:t>
            </a:r>
          </a:p>
          <a:p>
            <a:pPr algn="ctr"/>
            <a:r>
              <a:rPr sz="950">
                <a:solidFill>
                  <a:srgbClr val="667085"/>
                </a:solidFill>
                <a:latin typeface="Calibri"/>
              </a:rPr>
              <a:t>httpx REST client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281160" y="2660904"/>
            <a:ext cx="548640" cy="201168"/>
          </a:xfrm>
          <a:prstGeom prst="rightArrow">
            <a:avLst/>
          </a:prstGeom>
          <a:solidFill>
            <a:srgbClr val="667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71432" y="2350008"/>
            <a:ext cx="768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alibri"/>
              </a:rPr>
              <a:t>POST /processId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85248" y="2240280"/>
            <a:ext cx="1645920" cy="1051560"/>
          </a:xfrm>
          <a:prstGeom prst="roundRect">
            <a:avLst>
              <a:gd name="adj" fmla="val 8000"/>
            </a:avLst>
          </a:prstGeom>
          <a:solidFill>
            <a:srgbClr val="E9F7EC"/>
          </a:solidFill>
          <a:ln w="15875">
            <a:solidFill>
              <a:srgbClr val="3BA5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A2332"/>
                </a:solidFill>
                <a:latin typeface="Calibri"/>
              </a:rPr>
              <a:t>Kogito</a:t>
            </a:r>
          </a:p>
          <a:p>
            <a:pPr algn="ctr"/>
            <a:r>
              <a:rPr sz="950">
                <a:solidFill>
                  <a:srgbClr val="667085"/>
                </a:solidFill>
                <a:latin typeface="Calibri"/>
              </a:rPr>
              <a:t>Quarkus :8081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0208" y="344728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Calibri"/>
              </a:rPr>
              <a:t>◄ ─ ─  callback: script tasks call CugaFlo.java over HTTP :8090/mcp  ─ 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91363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67085"/>
                </a:solidFill>
                <a:latin typeface="Calibri"/>
              </a:rPr>
              <a:t>FOUR CONTROL POINTS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224528"/>
            <a:ext cx="2615184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A2332"/>
                </a:solidFill>
                <a:latin typeface="Calibri"/>
              </a:rPr>
              <a:t>execute_task</a:t>
            </a:r>
          </a:p>
          <a:p>
            <a:pPr algn="ctr"/>
            <a:r>
              <a:rPr sz="950">
                <a:solidFill>
                  <a:srgbClr val="667085"/>
                </a:solidFill>
                <a:latin typeface="Calibri"/>
              </a:rPr>
              <a:t>TaskAgent fulfils a task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64992" y="4224528"/>
            <a:ext cx="2615184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A2332"/>
                </a:solidFill>
                <a:latin typeface="Calibri"/>
              </a:rPr>
              <a:t>route_gateway</a:t>
            </a:r>
          </a:p>
          <a:p>
            <a:pPr algn="ctr"/>
            <a:r>
              <a:rPr sz="950">
                <a:solidFill>
                  <a:srgbClr val="667085"/>
                </a:solidFill>
                <a:latin typeface="Calibri"/>
              </a:rPr>
              <a:t>DecisionAgent picks a branch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6" y="4224528"/>
            <a:ext cx="2615184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A2332"/>
                </a:solidFill>
                <a:latin typeface="Calibri"/>
              </a:rPr>
              <a:t>evaluate_hook</a:t>
            </a:r>
          </a:p>
          <a:p>
            <a:pPr algn="ctr"/>
            <a:r>
              <a:rPr sz="950">
                <a:solidFill>
                  <a:srgbClr val="667085"/>
                </a:solidFill>
                <a:latin typeface="Calibri"/>
              </a:rPr>
              <a:t>FlowAgent adapts the 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19" y="4224528"/>
            <a:ext cx="2615184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A2332"/>
                </a:solidFill>
                <a:latin typeface="Calibri"/>
              </a:rPr>
              <a:t>complete_process</a:t>
            </a:r>
          </a:p>
          <a:p>
            <a:pPr algn="ctr"/>
            <a:r>
              <a:rPr sz="950">
                <a:solidFill>
                  <a:srgbClr val="667085"/>
                </a:solidFill>
                <a:latin typeface="Calibri"/>
              </a:rPr>
              <a:t>returns terminal 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23036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alibri"/>
              </a:rPr>
              <a:t>Kogito compiles BPMN at build time — there is no runtime deploy, so an app is built into the service before it runs.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8704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Calibri"/>
              </a:rPr>
              <a:t>Apache KIE / Kogito 10.2.0   ·   Quarkus 3.27.2   ·   JDK 17   ·   policies reused byte-identical from the Flowable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3B7DD8"/>
                </a:solidFill>
                <a:latin typeface="Calibri"/>
              </a:rPr>
              <a:t>CUGA FLO · WORKFLOW ENGINE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A2332"/>
                </a:solidFill>
                <a:latin typeface="Calibri"/>
              </a:rPr>
              <a:t>The CUGA FLO runtime inside the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64240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667085"/>
                </a:solidFill>
                <a:latin typeface="Calibri"/>
              </a:rPr>
              <a:t>Two Java classes are compiled into every generated Quarkus service. BPMN script tasks are one-liners delegating to them: CugaFlo reaches back to CUGA FLO for reasoning, and FlowRedirect applies the answer to the running process instance.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84831"/>
            <a:ext cx="5394960" cy="26700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3B7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7" y="2322576"/>
            <a:ext cx="2148840" cy="329184"/>
          </a:xfrm>
          <a:prstGeom prst="roundRect">
            <a:avLst/>
          </a:prstGeom>
          <a:solidFill>
            <a:srgbClr val="E6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3B7DD8"/>
                </a:solidFill>
                <a:latin typeface="Consolas"/>
              </a:rPr>
              <a:t>CugaFlo.java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377439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Calibri"/>
              </a:rPr>
              <a:t>the MCP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834639"/>
            <a:ext cx="14630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3B7DD8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825496"/>
            <a:ext cx="45720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2332"/>
                </a:solidFill>
                <a:latin typeface="Calibri"/>
              </a:rPr>
              <a:t>Calls execute_task · route_gateway ·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2332"/>
                </a:solidFill>
                <a:latin typeface="Calibri"/>
              </a:rPr>
              <a:t>evaluate_hook · complete_process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401568"/>
            <a:ext cx="14630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3B7DD8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3392424"/>
            <a:ext cx="45720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2332"/>
                </a:solidFill>
                <a:latin typeface="Calibri"/>
              </a:rPr>
              <a:t>Ships the full process-variable map on every 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785615"/>
            <a:ext cx="14630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3B7DD8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776472"/>
            <a:ext cx="45720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2332"/>
                </a:solidFill>
                <a:latin typeface="Calibri"/>
              </a:rPr>
              <a:t>Endpoint from the cugaMcpUrl variable, never hardcoded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4169663"/>
            <a:ext cx="14630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3B7DD8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4160520"/>
            <a:ext cx="45720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2332"/>
                </a:solidFill>
                <a:latin typeface="Calibri"/>
              </a:rPr>
              <a:t>Writes results back into typed process variables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84831"/>
            <a:ext cx="5394960" cy="26700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3BA5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10528" y="2322576"/>
            <a:ext cx="2148840" cy="329184"/>
          </a:xfrm>
          <a:prstGeom prst="roundRect">
            <a:avLst/>
          </a:prstGeom>
          <a:solidFill>
            <a:srgbClr val="E9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3BA55D"/>
                </a:solidFill>
                <a:latin typeface="Consolas"/>
              </a:rPr>
              <a:t>FlowRedirect.java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377439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Calibri"/>
              </a:rPr>
              <a:t>the in-process jump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834639"/>
            <a:ext cx="14630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3BA55D"/>
                </a:solidFill>
                <a:latin typeface="Calibri"/>
              </a:rPr>
              <a:t>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2825496"/>
            <a:ext cx="45720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2332"/>
                </a:solidFill>
                <a:latin typeface="Calibri"/>
              </a:rPr>
              <a:t>Kogito's answer to Flowable's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2332"/>
                </a:solidFill>
                <a:latin typeface="Calibri"/>
              </a:rPr>
              <a:t>ChangeActivityStateBuilder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401568"/>
            <a:ext cx="14630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3BA55D"/>
                </a:solidFill>
                <a:latin typeface="Calibri"/>
              </a:rPr>
              <a:t>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9128" y="3392424"/>
            <a:ext cx="45720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2332"/>
                </a:solidFill>
                <a:latin typeface="Calibri"/>
              </a:rPr>
              <a:t>Cancels the calling node, then triggers the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3785615"/>
            <a:ext cx="14630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3BA55D"/>
                </a:solidFill>
                <a:latin typeface="Calibri"/>
              </a:rPr>
              <a:t>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9128" y="3776472"/>
            <a:ext cx="45720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2332"/>
                </a:solidFill>
                <a:latin typeface="Calibri"/>
              </a:rPr>
              <a:t>Self-cancel is load-bearing — else both paths run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169663"/>
            <a:ext cx="14630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3BA55D"/>
                </a:solidFill>
                <a:latin typeface="Calibri"/>
              </a:rPr>
              <a:t>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9128" y="4160520"/>
            <a:ext cx="45720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2332"/>
                </a:solidFill>
                <a:latin typeface="Calibri"/>
              </a:rPr>
              <a:t>SKIP_TO → target · TERMINATE → completion task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919472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67085"/>
                </a:solidFill>
                <a:latin typeface="Calibri"/>
              </a:rPr>
              <a:t>HOW A HOOK SCRIPT TASK USES BOTH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193792"/>
            <a:ext cx="5394960" cy="105156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/>
            <a:r>
              <a:rPr sz="1000">
                <a:solidFill>
                  <a:srgbClr val="1A2332"/>
                </a:solidFill>
                <a:latin typeface="Consolas"/>
              </a:rPr>
              <a:t>FlowRedirect.to(kcontext,</a:t>
            </a:r>
          </a:p>
          <a:p>
            <a:pPr algn="l"/>
            <a:r>
              <a:rPr sz="1000">
                <a:solidFill>
                  <a:srgbClr val="1A2332"/>
                </a:solidFill>
                <a:latin typeface="Consolas"/>
              </a:rPr>
              <a:t>    CugaFlo.evaluateHook(kcontext,</a:t>
            </a:r>
          </a:p>
          <a:p>
            <a:pPr algn="l"/>
            <a:r>
              <a:rPr sz="1000">
                <a:solidFill>
                  <a:srgbClr val="1A2332"/>
                </a:solidFill>
                <a:latin typeface="Consolas"/>
              </a:rPr>
              <a:t>        "Flow_1e5ztf6", "pre credit check",</a:t>
            </a:r>
          </a:p>
          <a:p>
            <a:pPr algn="l"/>
            <a:r>
              <a:rPr sz="1000">
                <a:solidFill>
                  <a:srgbClr val="1A2332"/>
                </a:solidFill>
                <a:latin typeface="Consolas"/>
              </a:rPr>
              <a:t>        "Task_CompleteProcess"));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8" y="4919472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67085"/>
                </a:solidFill>
                <a:latin typeface="Calibri"/>
              </a:rPr>
              <a:t>BUILD AND RUN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6208" y="5193792"/>
            <a:ext cx="5394960" cy="105156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/>
            <a:r>
              <a:rPr sz="1050">
                <a:solidFill>
                  <a:srgbClr val="1A2332"/>
                </a:solidFill>
                <a:latin typeface="Consolas"/>
              </a:rPr>
              <a:t>./scripts/build_kogito_app.sh &lt;app&gt;</a:t>
            </a:r>
          </a:p>
          <a:p>
            <a:pPr algn="l"/>
            <a:r>
              <a:rPr sz="1050">
                <a:solidFill>
                  <a:srgbClr val="1A2332"/>
                </a:solidFill>
                <a:latin typeface="Consolas"/>
              </a:rPr>
              <a:t>build/kogito/&lt;app&gt;/run.sh</a:t>
            </a:r>
          </a:p>
          <a:p>
            <a:pPr algn="l"/>
            <a:r>
              <a:rPr sz="1050">
                <a:solidFill>
                  <a:srgbClr val="1A2332"/>
                </a:solidFill>
                <a:latin typeface="Consolas"/>
              </a:rPr>
              <a:t>cuga start flow_agent_inline &lt;app&gt;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38251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Calibri"/>
              </a:rPr>
              <a:t>Both classes are app-independent and shared — parameterised entirely by the arguments the BPMN script tasks pass, so nothing per-app is written in Java.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3B7DD8"/>
                </a:solidFill>
                <a:latin typeface="Calibri"/>
              </a:rPr>
              <a:t>CUGA FLO · KOGITO TOOLING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2332"/>
                </a:solidFill>
                <a:latin typeface="Calibri"/>
              </a:rPr>
              <a:t>One command turns an app into a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64240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67085"/>
                </a:solidFill>
                <a:latin typeface="Calibri"/>
              </a:rPr>
              <a:t>scripts/build_kogito_app.sh &lt;app-name&gt;  —  combines the app's Kogito model with the shared Java runtime and the project templates, then builds.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48256"/>
            <a:ext cx="3429000" cy="26883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3B7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2249424"/>
            <a:ext cx="2953512" cy="310896"/>
          </a:xfrm>
          <a:prstGeom prst="roundRect">
            <a:avLst/>
          </a:prstGeom>
          <a:solidFill>
            <a:srgbClr val="E6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B7DD8"/>
                </a:solidFill>
                <a:latin typeface="Calibri"/>
              </a:rPr>
              <a:t>INPUT — authored in the repo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706624"/>
            <a:ext cx="2926080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950" b="0">
                <a:solidFill>
                  <a:srgbClr val="1A2332"/>
                </a:solidFill>
                <a:latin typeface="Consolas"/>
              </a:rPr>
              <a:t>docs/examples/…/&lt;app&gt;/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1A2332"/>
                </a:solidFill>
                <a:latin typeface="Consolas"/>
              </a:rPr>
              <a:t>  config/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1A2332"/>
                </a:solidFill>
                <a:latin typeface="Consolas"/>
              </a:rPr>
              <a:t>    &lt;app&gt;_config.yaml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1A2332"/>
                </a:solidFill>
                <a:latin typeface="Consolas"/>
              </a:rPr>
              <a:t>    BPMNdiagram.bpmn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1A2332"/>
                </a:solidFill>
                <a:latin typeface="Consolas"/>
              </a:rPr>
              <a:t>    *-kogito.bpmn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1A2332"/>
                </a:solidFill>
                <a:latin typeface="Consolas"/>
              </a:rPr>
              <a:t>  policies/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1A2332"/>
                </a:solidFill>
                <a:latin typeface="Consolas"/>
              </a:rPr>
              <a:t>    task-*.md  hook-*.md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224528" y="3127248"/>
            <a:ext cx="658368" cy="237744"/>
          </a:xfrm>
          <a:prstGeom prst="rightArrow">
            <a:avLst/>
          </a:prstGeom>
          <a:solidFill>
            <a:srgbClr val="667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04488" y="2798064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67085"/>
                </a:solidFill>
                <a:latin typeface="Calibri"/>
              </a:rPr>
              <a:t>build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38928" y="2048256"/>
            <a:ext cx="3291840" cy="26883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3BA5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76672" y="2249424"/>
            <a:ext cx="2816352" cy="310896"/>
          </a:xfrm>
          <a:prstGeom prst="roundRect">
            <a:avLst/>
          </a:prstGeom>
          <a:solidFill>
            <a:srgbClr val="E9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BA55D"/>
                </a:solidFill>
                <a:latin typeface="Calibri"/>
              </a:rPr>
              <a:t>OUTPUT — build/kogito/&lt;app&gt;/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13248" y="2706624"/>
            <a:ext cx="2788920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950" b="0">
                <a:solidFill>
                  <a:srgbClr val="1A2332"/>
                </a:solidFill>
                <a:latin typeface="Consolas"/>
              </a:rPr>
              <a:t>pom.xml            templated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1A2332"/>
                </a:solidFill>
                <a:latin typeface="Consolas"/>
              </a:rPr>
              <a:t>run.sh             generated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1A2332"/>
                </a:solidFill>
                <a:latin typeface="Consolas"/>
              </a:rPr>
              <a:t>build.log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1A2332"/>
                </a:solidFill>
                <a:latin typeface="Consolas"/>
              </a:rPr>
              <a:t>src/main/java/org/cuga/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1A2332"/>
                </a:solidFill>
                <a:latin typeface="Consolas"/>
              </a:rPr>
              <a:t>  CugaFlo.java     copied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1A2332"/>
                </a:solidFill>
                <a:latin typeface="Consolas"/>
              </a:rPr>
              <a:t>  FlowRedirect.java  copied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1A2332"/>
                </a:solidFill>
                <a:latin typeface="Consolas"/>
              </a:rPr>
              <a:t>src/main/resources/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1A2332"/>
                </a:solidFill>
                <a:latin typeface="Consolas"/>
              </a:rPr>
              <a:t>  application.properties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1A2332"/>
                </a:solidFill>
                <a:latin typeface="Consolas"/>
              </a:rPr>
              <a:t>  org/cuga/*-kogito.bpmn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1A2332"/>
                </a:solidFill>
                <a:latin typeface="Consolas"/>
              </a:rPr>
              <a:t>target/quarkus-app/…jar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2048256"/>
            <a:ext cx="2990088" cy="26883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87968" y="223113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7085"/>
                </a:solidFill>
                <a:latin typeface="Calibri"/>
              </a:rPr>
              <a:t>WHAT IT DOES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7968" y="2578608"/>
            <a:ext cx="274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3B7DD8"/>
                </a:solidFill>
                <a:latin typeface="Calibri"/>
              </a:rPr>
              <a:t>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2288" y="257860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A2332"/>
                </a:solidFill>
                <a:latin typeface="Calibri"/>
              </a:rPr>
              <a:t>Finds *-kogito.bpmn, or fails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7968" y="2834639"/>
            <a:ext cx="274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3B7DD8"/>
                </a:solidFill>
                <a:latin typeface="Calibri"/>
              </a:rPr>
              <a:t>2.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2288" y="2834639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A2332"/>
                </a:solidFill>
                <a:latin typeface="Calibri"/>
              </a:rPr>
              <a:t>Warns if a YAML variable has no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1A2332"/>
                </a:solidFill>
                <a:latin typeface="Calibri"/>
              </a:rPr>
              <a:t>&lt;bpmn2:property&gt; in the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7968" y="3236975"/>
            <a:ext cx="274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3B7DD8"/>
                </a:solidFill>
                <a:latin typeface="Calibri"/>
              </a:rP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2288" y="3236975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A2332"/>
                </a:solidFill>
                <a:latin typeface="Calibri"/>
              </a:rPr>
              <a:t>Resolves the port: --port, else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1A2332"/>
                </a:solidFill>
                <a:latin typeface="Calibri"/>
              </a:rPr>
              <a:t>workflow_engine.url, else 8081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8" y="3639311"/>
            <a:ext cx="274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3B7DD8"/>
                </a:solidFill>
                <a:latin typeface="Calibri"/>
              </a:rPr>
              <a:t>4.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288" y="3639311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A2332"/>
                </a:solidFill>
                <a:latin typeface="Calibri"/>
              </a:rPr>
              <a:t>Probes for a JDK 17+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7968" y="3895344"/>
            <a:ext cx="274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3B7DD8"/>
                </a:solidFill>
                <a:latin typeface="Calibri"/>
              </a:rPr>
              <a:t>5.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2288" y="3895344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A2332"/>
                </a:solidFill>
                <a:latin typeface="Calibri"/>
              </a:rPr>
              <a:t>Scaffolds pom + properties from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1A2332"/>
                </a:solidFill>
                <a:latin typeface="Calibri"/>
              </a:rPr>
              <a:t>templates; copies runtime and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8" y="4297680"/>
            <a:ext cx="274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3B7DD8"/>
                </a:solidFill>
                <a:latin typeface="Calibri"/>
              </a:rPr>
              <a:t>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42976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A2332"/>
                </a:solidFill>
                <a:latin typeface="Calibri"/>
              </a:rPr>
              <a:t>Emits run.sh, then mvn package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882896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7085"/>
                </a:solidFill>
                <a:latin typeface="Calibri"/>
              </a:rPr>
              <a:t>OPTIONS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175504"/>
            <a:ext cx="5394960" cy="109728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/>
            <a:r>
              <a:rPr sz="950">
                <a:solidFill>
                  <a:srgbClr val="1A2332"/>
                </a:solidFill>
                <a:latin typeface="Consolas"/>
              </a:rPr>
              <a:t>--out DIR    build elsewhere</a:t>
            </a:r>
          </a:p>
          <a:p>
            <a:pPr algn="l"/>
            <a:r>
              <a:rPr sz="950">
                <a:solidFill>
                  <a:srgbClr val="1A2332"/>
                </a:solidFill>
                <a:latin typeface="Consolas"/>
              </a:rPr>
              <a:t>--port N     override the HTTP port</a:t>
            </a:r>
          </a:p>
          <a:p>
            <a:pPr algn="l"/>
            <a:r>
              <a:rPr sz="950">
                <a:solidFill>
                  <a:srgbClr val="1A2332"/>
                </a:solidFill>
                <a:latin typeface="Consolas"/>
              </a:rPr>
              <a:t>--clean      wipe the output dir first</a:t>
            </a:r>
          </a:p>
          <a:p>
            <a:pPr algn="l"/>
            <a:r>
              <a:rPr sz="950">
                <a:solidFill>
                  <a:srgbClr val="1A2332"/>
                </a:solidFill>
                <a:latin typeface="Consolas"/>
              </a:rPr>
              <a:t>--no-build   scaffold only, skip mvn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8" y="4882896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7085"/>
                </a:solidFill>
                <a:latin typeface="Calibri"/>
              </a:rPr>
              <a:t>pom.xml — MAVEN'S BUILD FILE, JAVA'S pyproject.toml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6208" y="5175504"/>
            <a:ext cx="53949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5340096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3B7DD8"/>
                </a:solidFill>
                <a:latin typeface="Calibri"/>
              </a:rPr>
              <a:t>identity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34656" y="5340096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A2332"/>
                </a:solidFill>
                <a:latin typeface="Calibri"/>
              </a:rPr>
              <a:t>artifactId derived from the app name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5559552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3B7DD8"/>
                </a:solidFill>
                <a:latin typeface="Calibri"/>
              </a:rPr>
              <a:t>properties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6" y="5559552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A2332"/>
                </a:solidFill>
                <a:latin typeface="Calibri"/>
              </a:rPr>
              <a:t>pins Kogito 10.2.0 · Quarkus 3.27.2 · JDK 17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5664" y="5779008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3B7DD8"/>
                </a:solidFill>
                <a:latin typeface="Calibri"/>
              </a:rPr>
              <a:t>dependencies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34656" y="5779008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A2332"/>
                </a:solidFill>
                <a:latin typeface="Calibri"/>
              </a:rPr>
              <a:t>engine, REST, management, Data Index (BOM-versioned)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5664" y="599846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3B7DD8"/>
                </a:solidFill>
                <a:latin typeface="Calibri"/>
              </a:rPr>
              <a:t>build plugin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34656" y="5998464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A2332"/>
                </a:solidFill>
                <a:latin typeface="Calibri"/>
              </a:rPr>
              <a:t>quarkus-maven-plugin: codegen, then the jar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34593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2332"/>
                </a:solidFill>
                <a:latin typeface="Calibri"/>
              </a:rPr>
              <a:t>The policies and the YAML are never copied — CUGA FLO reads them live from the repo at runtime. Only the BPMN is compiled in, which is why just a model change needs a rebuild.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3B7DD8"/>
                </a:solidFill>
                <a:latin typeface="Calibri"/>
              </a:rPr>
              <a:t>CUGA FLO · KOGITO TOOLING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2332"/>
                </a:solidFill>
                <a:latin typeface="Calibri"/>
              </a:rPr>
              <a:t>run.sh — starting the built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64240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67085"/>
                </a:solidFill>
                <a:latin typeface="Calibri"/>
              </a:rPr>
              <a:t>The build emits a launcher next to the project. It exists for one reason: to pin the JDK the service was built with.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11680"/>
            <a:ext cx="6583680" cy="1572768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/>
            <a:r>
              <a:rPr sz="1000">
                <a:solidFill>
                  <a:srgbClr val="667085"/>
                </a:solidFill>
                <a:latin typeface="Consolas"/>
              </a:rPr>
              <a:t>#!/usr/bin/env bash</a:t>
            </a:r>
          </a:p>
          <a:p>
            <a:pPr algn="l"/>
            <a:r>
              <a:rPr sz="1000">
                <a:solidFill>
                  <a:srgbClr val="1A2332"/>
                </a:solidFill>
                <a:latin typeface="Consolas"/>
              </a:rPr>
              <a:t>set -euo pipefail</a:t>
            </a:r>
          </a:p>
          <a:p>
            <a:pPr algn="l"/>
            <a:r>
              <a:rPr sz="1000">
                <a:solidFill>
                  <a:srgbClr val="1A2332"/>
                </a:solidFill>
                <a:latin typeface="Consolas"/>
              </a:rPr>
              <a:t>export JAVA_HOME="/opt/homebrew/opt/openjdk@17"</a:t>
            </a:r>
          </a:p>
          <a:p>
            <a:pPr algn="l"/>
            <a:r>
              <a:rPr sz="1000">
                <a:solidFill>
                  <a:srgbClr val="1A2332"/>
                </a:solidFill>
                <a:latin typeface="Consolas"/>
              </a:rPr>
              <a:t>export PATH="$JAVA_HOME/bin:$PATH"</a:t>
            </a:r>
          </a:p>
          <a:p>
            <a:pPr algn="l"/>
            <a:r>
              <a:rPr sz="1000">
                <a:solidFill>
                  <a:srgbClr val="1A2332"/>
                </a:solidFill>
                <a:latin typeface="Consolas"/>
              </a:rPr>
              <a:t>exec java -jar ".../target/quarkus-app/quarkus-run.jar" "$@"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2011680"/>
            <a:ext cx="4206240" cy="1572768"/>
          </a:xfrm>
          <a:prstGeom prst="roundRect">
            <a:avLst>
              <a:gd name="adj" fmla="val 5000"/>
            </a:avLst>
          </a:prstGeom>
          <a:solidFill>
            <a:srgbClr val="FFF4E0"/>
          </a:solidFill>
          <a:ln w="15875">
            <a:solidFill>
              <a:srgbClr val="D89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99248" y="22128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8913B"/>
                </a:solidFill>
                <a:latin typeface="Calibri"/>
              </a:rPr>
              <a:t>WHY IT IS GENERATED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9248" y="2523744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A2332"/>
                </a:solidFill>
                <a:latin typeface="Calibri"/>
              </a:rPr>
              <a:t>JAVA_HOME exported inside the build script does not survive into your shell. A bare java -jar then picks up the system JDK 11 and dies with UnsupportedClassVersionError: class file version 61.0.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822191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7085"/>
                </a:solidFill>
                <a:latin typeface="Calibri"/>
              </a:rPr>
              <a:t>THE THREE-STEP 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133087"/>
            <a:ext cx="5394960" cy="13716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/>
            <a:r>
              <a:rPr sz="950">
                <a:solidFill>
                  <a:srgbClr val="667085"/>
                </a:solidFill>
                <a:latin typeface="Consolas"/>
              </a:rPr>
              <a:t># 1  build   (only after a BPMN change)</a:t>
            </a:r>
          </a:p>
          <a:p>
            <a:pPr algn="l"/>
            <a:r>
              <a:rPr sz="950">
                <a:solidFill>
                  <a:srgbClr val="1A2332"/>
                </a:solidFill>
                <a:latin typeface="Consolas"/>
              </a:rPr>
              <a:t>./scripts/build_kogito_app.sh &lt;app&gt;</a:t>
            </a:r>
          </a:p>
          <a:p>
            <a:pPr algn="l"/>
            <a:r>
              <a:rPr sz="950">
                <a:solidFill>
                  <a:srgbClr val="667085"/>
                </a:solidFill>
                <a:latin typeface="Consolas"/>
              </a:rPr>
              <a:t># 2  run     (leave it running)</a:t>
            </a:r>
          </a:p>
          <a:p>
            <a:pPr algn="l"/>
            <a:r>
              <a:rPr sz="950">
                <a:solidFill>
                  <a:srgbClr val="1A2332"/>
                </a:solidFill>
                <a:latin typeface="Consolas"/>
              </a:rPr>
              <a:t>build/kogito/&lt;app&gt;/run.sh</a:t>
            </a:r>
          </a:p>
          <a:p>
            <a:pPr algn="l"/>
            <a:r>
              <a:rPr sz="950">
                <a:solidFill>
                  <a:srgbClr val="667085"/>
                </a:solidFill>
                <a:latin typeface="Consolas"/>
              </a:rPr>
              <a:t># 3  drive   (another terminal)</a:t>
            </a:r>
          </a:p>
          <a:p>
            <a:pPr algn="l"/>
            <a:r>
              <a:rPr sz="950">
                <a:solidFill>
                  <a:srgbClr val="1A2332"/>
                </a:solidFill>
                <a:latin typeface="Consolas"/>
              </a:rPr>
              <a:t>cuga start flow_agent_inline &lt;app&gt;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4133087"/>
            <a:ext cx="53949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431596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7085"/>
                </a:solidFill>
                <a:latin typeface="Calibri"/>
              </a:rPr>
              <a:t>WHAT COMES 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4626864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2332"/>
                </a:solidFill>
                <a:latin typeface="Calibri"/>
              </a:rPr>
              <a:t>Quarkus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8" y="4626864"/>
            <a:ext cx="2834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Calibri"/>
              </a:rPr>
              <a:t>port 8081 — 8080 is Flowable's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4846320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2332"/>
                </a:solidFill>
                <a:latin typeface="Calibri"/>
              </a:rPr>
              <a:t>Generated 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4846320"/>
            <a:ext cx="2834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Calibri"/>
              </a:rPr>
              <a:t>POST /&lt;processId&gt; starts an instance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5065775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2332"/>
                </a:solidFill>
                <a:latin typeface="Calibri"/>
              </a:rPr>
              <a:t>Embedded Data Index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5065775"/>
            <a:ext cx="2834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Calibri"/>
              </a:rPr>
              <a:t>/graphql — every run, node by node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5285231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2332"/>
                </a:solidFill>
                <a:latin typeface="Calibri"/>
              </a:rPr>
              <a:t>MCP callback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5285231"/>
            <a:ext cx="2834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Calibri"/>
              </a:rPr>
              <a:t>the service calls back on :8090/mcp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74243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2332"/>
                </a:solidFill>
                <a:latin typeface="Calibri"/>
              </a:rPr>
              <a:t>Kogito compiles BPMN at build time, so the service is the deployment unit — there is no runtime deploy. Editing a policy or the YAML needs no rebuild; editing the model does.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